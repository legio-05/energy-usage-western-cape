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9" r:id="rId4"/>
    <p:sldId id="261" r:id="rId5"/>
    <p:sldId id="263" r:id="rId6"/>
    <p:sldId id="264" r:id="rId7"/>
    <p:sldId id="265" r:id="rId8"/>
    <p:sldId id="266" r:id="rId9"/>
    <p:sldId id="267" r:id="rId10"/>
    <p:sldId id="268"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114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0:30] Good morning. I'm Emma, and together with Hlib and Marvin I'll present our paper, Big Data Analytics for Energy Usage Assessment in Public School Power Systems, a case study of 53 public schools in the Western Cape, South Africa, co-authored with Vimala Nunavath from the University of South-Eastern Norway.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0:50] A school gets one electricity bill a month. It says how much energy was used, but not when or why, so nobody can tell whether it went to teaching or to equipment left on overnight. Smart meters that record every half hour can answer that. Why South Africa? The grid is under pressure, public schools run on tight budgets, and few studies apply big-data tools to school smart-meter data. So we built an end-to-end framework and applied it to real half-hourly data from 53 schools.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[Emma, 0:55] This is our architecture, in seven stages. We load the raw meter files and a school metadata sheet unchanged into MongoDB as readings_raw. PySpark cleans the data and engineers features, and the result goes back to MongoDB as a separate collection, readings_clean, so the originals stay untouched. PySpark then runs the analytical queries and exports small pre-aggregated CSV files, and Tableau turns those into dashboards. MongoDB stores, PySpark processes, Tableau shows, and the same pipeline could scale to many more schools. Now Hlib will take you through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[Hlib, 1:05] Thanks, Emma. The dataset was released by Stellenbosch University in 2024: 53 public schools, with readings every 30 minutes. We focus on 2023, which gives 849,696 readings and 2.51 gigawatt-hours in total. The sample has 18, 15, 17 and 3 schools in Quintiles 1 to 4 and none in Quintile 5, and 43 of the 53 have a recorded intervention. We cleaned the data in five PySpark steps: gaps filled with each school's median, outliers capped at the 99.9th percentile rather than deleted, S46's duplicated season fields rebuilt, timestamps set to Johannesburg time, and features such as hour, weekend flag and season added.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[Hlib, 0:45] Our first question: does funding quintile predict consumption? Quintile 1 uses the most in total, about 874 megawatt-hours, simply because it has the most schools. Per school, the mean is very similar, from about 42,600 kilowatt-hours in Quintile 4 to about 48,600 in Quintile 1, and the medians sit below the means, so a few heavy users pull the averages up. Quintile alone is not a strong predictor. This is descriptive, with no significance test, and Quintile 4 has only three schools.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[Hlib, 0:50] Secondary schools use the most per school, about 61,600 kilowatt-hours a year against about 41,800 for primary. But that ignores school size, so we also looked at use per learner. S24 uses about 178,000 kilowatt-hours, or 101 per learner. S41, a primary school with only 778 learners, uses less than half that in total, but 95 per learner. S25 has the most learners and only about 36. Per-learner figures are a better way to spot schools that need attention. Marvin will now take you through when the energy is used.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0:45] Thanks, Hlib. This is an average school day. Consumption is flat overnight, ramps up sharply between nine and eleven, stays high through teaching hours and declines after about two. On school days the peak comes between 11:00 and 12:00 for every school type: secondary schools highest at about 8.3 kilowatt-hours per half hour, then combined at 7.6, primary at 6.2 and intermediate at 3.8. Energy follows occupancy, which gives us a baseline for weekends and nights.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0:45] Now weekends. You'd expect a school with no classes to use very little, but weekend demand is 59 to 65 percent of weekday demand in every quintile, from 59 in Quintile 3 to 65 in Quintile 1. So more than half of the weekday load is still there when nobody is teaching: likely security lighting, network equipment, refrigeration and idle HVAC. Those are good targets for cheap fixes like circuit timers and better scheduling.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0:50] At the extremes, the highest half-hour reading was about 36 kilowatt-hours at S43, around 71 kilowatts. Peaks came mainly from secondary schools, S43, S48 and S47, mostly in winter between 10:00 and 14:00, which we link to heating and lighting. At the other end, 01:00 to 04:30 accounts for 12 to 14 percent of annual use, similar across quintiles. One school stands out: S24 draws about 9.3 kilowatt-hours every half hour overnight, around 19 kilowatts, which makes it a strong candidate for an energy audit.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0:45] The ten highest-consuming schools use about a third of all electricity, around 34 percent, so consumption is very concentrated. Six are secondary schools and four are primary. S24 is at the top with about 178,000 kilowatt-hours, more than twice the second-ranked school, S49, at about 86,500, even though their learner numbers are similar. Targeting a small number of schools could deliver a large share of the possible savings.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0:45] Finally, interventions. Schools with a recorded intervention used about 4,500 kilowatt-hours less per year on average: 46,424 against 50,906. The gap is clear in Quintiles 1 and 2. In Quintile 3 it reverses, largely because of S24; without it, that group's average falls from about 49,700 to about 40,500. Quintile 4 is too small to read. This is an association, not proof. We don't know what the interventions were or when they happened, so a before-and-after comparison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[Marvin, 0:55] To conclude. We built a MongoDB, PySpark and Tableau framework and applied it to about 850,000 half-hourly readings from 53 schools. We found high weekend and overnight use, winter midday peaks in secondary schools, consumption concentrated in a few schools, and S24 as an audit candidate. Limitations: missing intervention details, few Quintile 4 schools, no Quintile 5, and no floor-area data. Next steps: building and occupancy data, intervention records, and streaming with Kafka and Spark Structured Streaming. A scalable big-data pipeline can turn raw smart-meter data into concrete evidence for school energy management.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0:20] Thank you for listening.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4"/>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804"/>
            <a:ext cx="10566400" cy="4216396"/>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64"/>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804"/>
            <a:ext cx="10566400" cy="4216396"/>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33A"/>
                </a:solidFill>
                <a:latin typeface="IBM Plex Sans" pitchFamily="34" charset="0"/>
                <a:ea typeface="IBM Plex Sans" pitchFamily="34" charset="-122"/>
                <a:cs typeface="IBM Plex Sans" pitchFamily="34" charset="-120"/>
              </a:rPr>
              <a:t>CASE STUDY · 53 PUBLIC SCHOOLS · WESTERN CAPE, SOUTH AFRICA</a:t>
            </a:r>
            <a:endParaRPr lang="en-US" sz="1200" dirty="0"/>
          </a:p>
        </p:txBody>
      </p:sp>
      <p:sp>
        <p:nvSpPr>
          <p:cNvPr id="3" name="Text 1"/>
          <p:cNvSpPr>
            <a:spLocks noGrp="1"/>
          </p:cNvSpPr>
          <p:nvPr>
            <p:ph type="title"/>
          </p:nvPr>
        </p:nvSpPr>
        <p:spPr>
          <a:xfrm>
            <a:off x="812800" y="1229360"/>
            <a:ext cx="9810750" cy="194564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5F3EE"/>
                </a:solidFill>
                <a:latin typeface="Space Grotesk" pitchFamily="34" charset="0"/>
                <a:ea typeface="Space Grotesk" pitchFamily="34" charset="-122"/>
                <a:cs typeface="Space Grotesk" pitchFamily="34" charset="-120"/>
              </a:rPr>
              <a:t>Big Data Analytics for Energy Use in Public School Power Systems</a:t>
            </a:r>
            <a:endParaRPr lang="en-US" sz="4800" dirty="0"/>
          </a:p>
        </p:txBody>
      </p:sp>
      <p:sp>
        <p:nvSpPr>
          <p:cNvPr id="4" name="Text 2"/>
          <p:cNvSpPr/>
          <p:nvPr/>
        </p:nvSpPr>
        <p:spPr>
          <a:xfrm>
            <a:off x="812800" y="3352800"/>
            <a:ext cx="915670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D3DA"/>
                </a:solidFill>
                <a:latin typeface="IBM Plex Sans" pitchFamily="34" charset="0"/>
                <a:ea typeface="IBM Plex Sans" pitchFamily="34" charset="-122"/>
                <a:cs typeface="IBM Plex Sans" pitchFamily="34" charset="-120"/>
              </a:rPr>
              <a:t>Smart-meter data, MongoDB, PySpark and Tableau</a:t>
            </a:r>
            <a:endParaRPr lang="en-US" sz="2000" dirty="0"/>
          </a:p>
        </p:txBody>
      </p:sp>
      <p:sp>
        <p:nvSpPr>
          <p:cNvPr id="5" name="Text 3"/>
          <p:cNvSpPr/>
          <p:nvPr/>
        </p:nvSpPr>
        <p:spPr>
          <a:xfrm>
            <a:off x="812800" y="551434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IBM Plex Sans" pitchFamily="34" charset="0"/>
                <a:ea typeface="IBM Plex Sans" pitchFamily="34" charset="-122"/>
                <a:cs typeface="IBM Plex Sans" pitchFamily="34" charset="-120"/>
              </a:rPr>
              <a:t>Emma Daae · Hlib Grygoriev · Marvin Lambertus · Vimala Nunavath</a:t>
            </a:r>
            <a:endParaRPr lang="en-US" sz="1500" dirty="0"/>
          </a:p>
        </p:txBody>
      </p:sp>
      <p:sp>
        <p:nvSpPr>
          <p:cNvPr id="6" name="Text 4"/>
          <p:cNvSpPr/>
          <p:nvPr/>
        </p:nvSpPr>
        <p:spPr>
          <a:xfrm>
            <a:off x="812800" y="58318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A"/>
                </a:solidFill>
                <a:latin typeface="IBM Plex Sans" pitchFamily="34" charset="0"/>
                <a:ea typeface="IBM Plex Sans" pitchFamily="34" charset="-122"/>
                <a:cs typeface="IBM Plex Sans" pitchFamily="34" charset="-120"/>
              </a:rPr>
              <a:t>Kristiania University of Applied Sciences, Oslo · University of South-Eastern Norway</a:t>
            </a:r>
            <a:endParaRPr lang="en-US" sz="1200" dirty="0"/>
          </a:p>
        </p:txBody>
      </p:sp>
      <p:sp>
        <p:nvSpPr>
          <p:cNvPr id="7" name="TextBox 6">
            <a:extLst>
              <a:ext uri="{FF2B5EF4-FFF2-40B4-BE49-F238E27FC236}">
                <a16:creationId xmlns:a16="http://schemas.microsoft.com/office/drawing/2014/main" id="{C82FDC3D-00BA-74AE-82FB-995C3BA884F0}"/>
              </a:ext>
            </a:extLst>
          </p:cNvPr>
          <p:cNvSpPr txBox="1"/>
          <p:nvPr/>
        </p:nvSpPr>
        <p:spPr>
          <a:xfrm>
            <a:off x="9900745" y="5483274"/>
            <a:ext cx="1601776" cy="646331"/>
          </a:xfrm>
          <a:prstGeom prst="rect">
            <a:avLst/>
          </a:prstGeom>
          <a:noFill/>
        </p:spPr>
        <p:txBody>
          <a:bodyPr wrap="square" rtlCol="0">
            <a:spAutoFit/>
          </a:bodyPr>
          <a:lstStyle/>
          <a:p>
            <a:r>
              <a:rPr lang="en-US" b="1" dirty="0">
                <a:solidFill>
                  <a:schemeClr val="bg1"/>
                </a:solidFill>
              </a:rPr>
              <a:t>Paper id: 204</a:t>
            </a:r>
            <a:endParaRPr lang="LID4096"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MOTIVATION</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Why schools, and why South Africa?</a:t>
            </a:r>
            <a:endParaRPr lang="en-US" sz="3200" dirty="0"/>
          </a:p>
        </p:txBody>
      </p:sp>
      <p:sp>
        <p:nvSpPr>
          <p:cNvPr id="4" name="Shape 2"/>
          <p:cNvSpPr/>
          <p:nvPr/>
        </p:nvSpPr>
        <p:spPr>
          <a:xfrm>
            <a:off x="815975" y="1831975"/>
            <a:ext cx="3380264" cy="2500630"/>
          </a:xfrm>
          <a:prstGeom prst="roundRect">
            <a:avLst>
              <a:gd name="adj" fmla="val 3936"/>
            </a:avLst>
          </a:prstGeom>
          <a:solidFill>
            <a:srgbClr val="FCFBF8"/>
          </a:solidFill>
          <a:ln w="6350">
            <a:solidFill>
              <a:srgbClr val="DCD8CE"/>
            </a:solidFill>
            <a:prstDash val="solid"/>
          </a:ln>
        </p:spPr>
        <p:txBody>
          <a:bodyPr/>
          <a:lstStyle/>
          <a:p>
            <a:endParaRPr/>
          </a:p>
        </p:txBody>
      </p:sp>
      <p:sp>
        <p:nvSpPr>
          <p:cNvPr id="5" name="Text 3"/>
          <p:cNvSpPr/>
          <p:nvPr/>
        </p:nvSpPr>
        <p:spPr>
          <a:xfrm>
            <a:off x="1071880" y="2087880"/>
            <a:ext cx="2954507"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9A5B00"/>
                </a:solidFill>
                <a:latin typeface="Space Grotesk" pitchFamily="34" charset="0"/>
                <a:ea typeface="Space Grotesk" pitchFamily="34" charset="-122"/>
                <a:cs typeface="Space Grotesk" pitchFamily="34" charset="-120"/>
              </a:rPr>
              <a:t>01</a:t>
            </a:r>
            <a:endParaRPr lang="en-US" sz="3200" dirty="0"/>
          </a:p>
        </p:txBody>
      </p:sp>
      <p:sp>
        <p:nvSpPr>
          <p:cNvPr id="6" name="Text 4"/>
          <p:cNvSpPr/>
          <p:nvPr/>
        </p:nvSpPr>
        <p:spPr>
          <a:xfrm>
            <a:off x="1071880" y="2616200"/>
            <a:ext cx="2954507"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2B"/>
                </a:solidFill>
                <a:latin typeface="Space Grotesk" pitchFamily="34" charset="0"/>
                <a:ea typeface="Space Grotesk" pitchFamily="34" charset="-122"/>
                <a:cs typeface="Space Grotesk" pitchFamily="34" charset="-120"/>
              </a:rPr>
              <a:t>A strained grid</a:t>
            </a:r>
            <a:endParaRPr lang="en-US" sz="2000" dirty="0"/>
          </a:p>
        </p:txBody>
      </p:sp>
      <p:sp>
        <p:nvSpPr>
          <p:cNvPr id="7" name="Text 5"/>
          <p:cNvSpPr/>
          <p:nvPr/>
        </p:nvSpPr>
        <p:spPr>
          <a:xfrm>
            <a:off x="1071880" y="3009900"/>
            <a:ext cx="295450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5"/>
                </a:solidFill>
                <a:latin typeface="IBM Plex Sans" pitchFamily="34" charset="0"/>
                <a:ea typeface="IBM Plex Sans" pitchFamily="34" charset="-122"/>
                <a:cs typeface="IBM Plex Sans" pitchFamily="34" charset="-120"/>
              </a:rPr>
              <a:t>Regular load-shedding makes every kilowatt-hour count.</a:t>
            </a:r>
            <a:endParaRPr lang="en-US" sz="1500" dirty="0"/>
          </a:p>
        </p:txBody>
      </p:sp>
      <p:sp>
        <p:nvSpPr>
          <p:cNvPr id="8" name="Shape 6"/>
          <p:cNvSpPr/>
          <p:nvPr/>
        </p:nvSpPr>
        <p:spPr>
          <a:xfrm>
            <a:off x="4405789" y="1831975"/>
            <a:ext cx="3380343" cy="2500630"/>
          </a:xfrm>
          <a:prstGeom prst="roundRect">
            <a:avLst>
              <a:gd name="adj" fmla="val 3936"/>
            </a:avLst>
          </a:prstGeom>
          <a:solidFill>
            <a:srgbClr val="FCFBF8"/>
          </a:solidFill>
          <a:ln w="6350">
            <a:solidFill>
              <a:srgbClr val="DCD8CE"/>
            </a:solidFill>
            <a:prstDash val="solid"/>
          </a:ln>
        </p:spPr>
        <p:txBody>
          <a:bodyPr/>
          <a:lstStyle/>
          <a:p>
            <a:endParaRPr/>
          </a:p>
        </p:txBody>
      </p:sp>
      <p:sp>
        <p:nvSpPr>
          <p:cNvPr id="9" name="Text 7"/>
          <p:cNvSpPr/>
          <p:nvPr/>
        </p:nvSpPr>
        <p:spPr>
          <a:xfrm>
            <a:off x="4661694" y="2087880"/>
            <a:ext cx="2954589"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9A5B00"/>
                </a:solidFill>
                <a:latin typeface="Space Grotesk" pitchFamily="34" charset="0"/>
                <a:ea typeface="Space Grotesk" pitchFamily="34" charset="-122"/>
                <a:cs typeface="Space Grotesk" pitchFamily="34" charset="-120"/>
              </a:rPr>
              <a:t>02</a:t>
            </a:r>
            <a:endParaRPr lang="en-US" sz="3200" dirty="0"/>
          </a:p>
        </p:txBody>
      </p:sp>
      <p:sp>
        <p:nvSpPr>
          <p:cNvPr id="10" name="Text 8"/>
          <p:cNvSpPr/>
          <p:nvPr/>
        </p:nvSpPr>
        <p:spPr>
          <a:xfrm>
            <a:off x="4661694" y="2616200"/>
            <a:ext cx="295458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2B"/>
                </a:solidFill>
                <a:latin typeface="Space Grotesk" pitchFamily="34" charset="0"/>
                <a:ea typeface="Space Grotesk" pitchFamily="34" charset="-122"/>
                <a:cs typeface="Space Grotesk" pitchFamily="34" charset="-120"/>
              </a:rPr>
              <a:t>Tight budgets</a:t>
            </a:r>
            <a:endParaRPr lang="en-US" sz="2000" dirty="0"/>
          </a:p>
        </p:txBody>
      </p:sp>
      <p:sp>
        <p:nvSpPr>
          <p:cNvPr id="11" name="Text 9"/>
          <p:cNvSpPr/>
          <p:nvPr/>
        </p:nvSpPr>
        <p:spPr>
          <a:xfrm>
            <a:off x="4661694" y="3009900"/>
            <a:ext cx="2954589"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5"/>
                </a:solidFill>
                <a:latin typeface="IBM Plex Sans" pitchFamily="34" charset="0"/>
                <a:ea typeface="IBM Plex Sans" pitchFamily="34" charset="-122"/>
                <a:cs typeface="IBM Plex Sans" pitchFamily="34" charset="-120"/>
              </a:rPr>
              <a:t>Public schools pay for electricity out of constrained operating budgets.</a:t>
            </a:r>
            <a:endParaRPr lang="en-US" sz="1500" dirty="0"/>
          </a:p>
        </p:txBody>
      </p:sp>
      <p:sp>
        <p:nvSpPr>
          <p:cNvPr id="12" name="Shape 10"/>
          <p:cNvSpPr/>
          <p:nvPr/>
        </p:nvSpPr>
        <p:spPr>
          <a:xfrm>
            <a:off x="7995682" y="1831975"/>
            <a:ext cx="3380343" cy="2500630"/>
          </a:xfrm>
          <a:prstGeom prst="roundRect">
            <a:avLst>
              <a:gd name="adj" fmla="val 3936"/>
            </a:avLst>
          </a:prstGeom>
          <a:solidFill>
            <a:srgbClr val="FCFBF8"/>
          </a:solidFill>
          <a:ln w="6350">
            <a:solidFill>
              <a:srgbClr val="DCD8CE"/>
            </a:solidFill>
            <a:prstDash val="solid"/>
          </a:ln>
        </p:spPr>
        <p:txBody>
          <a:bodyPr/>
          <a:lstStyle/>
          <a:p>
            <a:endParaRPr/>
          </a:p>
        </p:txBody>
      </p:sp>
      <p:sp>
        <p:nvSpPr>
          <p:cNvPr id="13" name="Text 11"/>
          <p:cNvSpPr/>
          <p:nvPr/>
        </p:nvSpPr>
        <p:spPr>
          <a:xfrm>
            <a:off x="8251587" y="2087880"/>
            <a:ext cx="2954589"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9A5B00"/>
                </a:solidFill>
                <a:latin typeface="Space Grotesk" pitchFamily="34" charset="0"/>
                <a:ea typeface="Space Grotesk" pitchFamily="34" charset="-122"/>
                <a:cs typeface="Space Grotesk" pitchFamily="34" charset="-120"/>
              </a:rPr>
              <a:t>03</a:t>
            </a:r>
            <a:endParaRPr lang="en-US" sz="3200" dirty="0"/>
          </a:p>
        </p:txBody>
      </p:sp>
      <p:sp>
        <p:nvSpPr>
          <p:cNvPr id="14" name="Text 12"/>
          <p:cNvSpPr/>
          <p:nvPr/>
        </p:nvSpPr>
        <p:spPr>
          <a:xfrm>
            <a:off x="8251587" y="2616200"/>
            <a:ext cx="295458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4212B"/>
                </a:solidFill>
                <a:latin typeface="Space Grotesk" pitchFamily="34" charset="0"/>
                <a:ea typeface="Space Grotesk" pitchFamily="34" charset="-122"/>
                <a:cs typeface="Space Grotesk" pitchFamily="34" charset="-120"/>
              </a:rPr>
              <a:t>A research gap</a:t>
            </a:r>
            <a:endParaRPr lang="en-US" sz="2000" dirty="0"/>
          </a:p>
        </p:txBody>
      </p:sp>
      <p:sp>
        <p:nvSpPr>
          <p:cNvPr id="15" name="Text 13"/>
          <p:cNvSpPr/>
          <p:nvPr/>
        </p:nvSpPr>
        <p:spPr>
          <a:xfrm>
            <a:off x="8251587" y="3009900"/>
            <a:ext cx="2954589"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5"/>
                </a:solidFill>
                <a:latin typeface="IBM Plex Sans" pitchFamily="34" charset="0"/>
                <a:ea typeface="IBM Plex Sans" pitchFamily="34" charset="-122"/>
                <a:cs typeface="IBM Plex Sans" pitchFamily="34" charset="-120"/>
              </a:rPr>
              <a:t>Most studies use billing data, or look at homes and universities. Few apply big-data tools to schools.</a:t>
            </a:r>
            <a:endParaRPr lang="en-US" sz="1500" dirty="0"/>
          </a:p>
        </p:txBody>
      </p:sp>
      <p:sp>
        <p:nvSpPr>
          <p:cNvPr id="16" name="Text 14"/>
          <p:cNvSpPr/>
          <p:nvPr/>
        </p:nvSpPr>
        <p:spPr>
          <a:xfrm>
            <a:off x="812800" y="6243320"/>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7" name="Text 15"/>
          <p:cNvSpPr/>
          <p:nvPr/>
        </p:nvSpPr>
        <p:spPr>
          <a:xfrm>
            <a:off x="10893616" y="6243320"/>
            <a:ext cx="4855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2 /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METHOD</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Seven stages from meter file to dashboard</a:t>
            </a:r>
            <a:endParaRPr lang="en-US" sz="3200" dirty="0"/>
          </a:p>
        </p:txBody>
      </p:sp>
      <p:pic>
        <p:nvPicPr>
          <p:cNvPr id="4" name="Image 0" descr="Seven-stage pipeline: data collection, ingestion into MongoDB readings_raw, PySpark preprocessing, curated storage in MongoDB readings_clean, PySpark analytics, pre-aggregated CSVs, Tableau dashboards"/>
          <p:cNvPicPr>
            <a:picLocks noChangeAspect="1"/>
          </p:cNvPicPr>
          <p:nvPr/>
        </p:nvPicPr>
        <p:blipFill>
          <a:blip r:embed="rId3"/>
          <a:srcRect/>
          <a:stretch/>
        </p:blipFill>
        <p:spPr>
          <a:xfrm>
            <a:off x="812800" y="1828800"/>
            <a:ext cx="10566400" cy="3302000"/>
          </a:xfrm>
          <a:prstGeom prst="rect">
            <a:avLst/>
          </a:prstGeom>
        </p:spPr>
      </p:pic>
      <p:sp>
        <p:nvSpPr>
          <p:cNvPr id="5" name="Text 2"/>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6" name="Text 3"/>
          <p:cNvSpPr/>
          <p:nvPr/>
        </p:nvSpPr>
        <p:spPr>
          <a:xfrm>
            <a:off x="10893616" y="6243321"/>
            <a:ext cx="4855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3 / 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DATA AND CLEANING</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53 schools, one year, five cleaning steps</a:t>
            </a:r>
            <a:endParaRPr lang="en-US" sz="3200" dirty="0"/>
          </a:p>
        </p:txBody>
      </p:sp>
      <p:sp>
        <p:nvSpPr>
          <p:cNvPr id="4" name="Shape 2"/>
          <p:cNvSpPr/>
          <p:nvPr/>
        </p:nvSpPr>
        <p:spPr>
          <a:xfrm>
            <a:off x="815975" y="1831975"/>
            <a:ext cx="2482850" cy="1466850"/>
          </a:xfrm>
          <a:prstGeom prst="roundRect">
            <a:avLst>
              <a:gd name="adj" fmla="val 6710"/>
            </a:avLst>
          </a:prstGeom>
          <a:solidFill>
            <a:srgbClr val="FCFBF8"/>
          </a:solidFill>
          <a:ln w="6350">
            <a:solidFill>
              <a:srgbClr val="DCD8CE"/>
            </a:solidFill>
            <a:prstDash val="solid"/>
          </a:ln>
        </p:spPr>
        <p:txBody>
          <a:bodyPr/>
          <a:lstStyle/>
          <a:p>
            <a:endParaRPr/>
          </a:p>
        </p:txBody>
      </p:sp>
      <p:sp>
        <p:nvSpPr>
          <p:cNvPr id="5" name="Text 3"/>
          <p:cNvSpPr/>
          <p:nvPr/>
        </p:nvSpPr>
        <p:spPr>
          <a:xfrm>
            <a:off x="1071880" y="2087882"/>
            <a:ext cx="2030171"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F6690"/>
                </a:solidFill>
                <a:latin typeface="Space Grotesk" pitchFamily="34" charset="0"/>
                <a:ea typeface="Space Grotesk" pitchFamily="34" charset="-122"/>
                <a:cs typeface="Space Grotesk" pitchFamily="34" charset="-120"/>
              </a:rPr>
              <a:t>53</a:t>
            </a:r>
            <a:endParaRPr lang="en-US" sz="3200" dirty="0"/>
          </a:p>
        </p:txBody>
      </p:sp>
      <p:sp>
        <p:nvSpPr>
          <p:cNvPr id="6" name="Text 4"/>
          <p:cNvSpPr/>
          <p:nvPr/>
        </p:nvSpPr>
        <p:spPr>
          <a:xfrm>
            <a:off x="1071880" y="2616200"/>
            <a:ext cx="203017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public schools, readings every 30 min</a:t>
            </a:r>
            <a:endParaRPr lang="en-US" sz="1200" dirty="0"/>
          </a:p>
        </p:txBody>
      </p:sp>
      <p:sp>
        <p:nvSpPr>
          <p:cNvPr id="7" name="Shape 5"/>
          <p:cNvSpPr/>
          <p:nvPr/>
        </p:nvSpPr>
        <p:spPr>
          <a:xfrm>
            <a:off x="3508375" y="1831975"/>
            <a:ext cx="2482850" cy="1466850"/>
          </a:xfrm>
          <a:prstGeom prst="roundRect">
            <a:avLst>
              <a:gd name="adj" fmla="val 6710"/>
            </a:avLst>
          </a:prstGeom>
          <a:solidFill>
            <a:srgbClr val="FCFBF8"/>
          </a:solidFill>
          <a:ln w="6350">
            <a:solidFill>
              <a:srgbClr val="DCD8CE"/>
            </a:solidFill>
            <a:prstDash val="solid"/>
          </a:ln>
        </p:spPr>
        <p:txBody>
          <a:bodyPr/>
          <a:lstStyle/>
          <a:p>
            <a:endParaRPr/>
          </a:p>
        </p:txBody>
      </p:sp>
      <p:sp>
        <p:nvSpPr>
          <p:cNvPr id="8" name="Text 6"/>
          <p:cNvSpPr/>
          <p:nvPr/>
        </p:nvSpPr>
        <p:spPr>
          <a:xfrm>
            <a:off x="3764280" y="2087882"/>
            <a:ext cx="2030171"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F6690"/>
                </a:solidFill>
                <a:latin typeface="Space Grotesk" pitchFamily="34" charset="0"/>
                <a:ea typeface="Space Grotesk" pitchFamily="34" charset="-122"/>
                <a:cs typeface="Space Grotesk" pitchFamily="34" charset="-120"/>
              </a:rPr>
              <a:t>849,696</a:t>
            </a:r>
            <a:endParaRPr lang="en-US" sz="3200" dirty="0"/>
          </a:p>
        </p:txBody>
      </p:sp>
      <p:sp>
        <p:nvSpPr>
          <p:cNvPr id="9" name="Text 7"/>
          <p:cNvSpPr/>
          <p:nvPr/>
        </p:nvSpPr>
        <p:spPr>
          <a:xfrm>
            <a:off x="3764280" y="2616200"/>
            <a:ext cx="203017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half-hour readings in 2023</a:t>
            </a:r>
            <a:endParaRPr lang="en-US" sz="1200" dirty="0"/>
          </a:p>
        </p:txBody>
      </p:sp>
      <p:sp>
        <p:nvSpPr>
          <p:cNvPr id="10" name="Shape 8"/>
          <p:cNvSpPr/>
          <p:nvPr/>
        </p:nvSpPr>
        <p:spPr>
          <a:xfrm>
            <a:off x="6200775" y="1831975"/>
            <a:ext cx="2482850" cy="1466850"/>
          </a:xfrm>
          <a:prstGeom prst="roundRect">
            <a:avLst>
              <a:gd name="adj" fmla="val 6710"/>
            </a:avLst>
          </a:prstGeom>
          <a:solidFill>
            <a:srgbClr val="FCFBF8"/>
          </a:solidFill>
          <a:ln w="6350">
            <a:solidFill>
              <a:srgbClr val="DCD8CE"/>
            </a:solidFill>
            <a:prstDash val="solid"/>
          </a:ln>
        </p:spPr>
        <p:txBody>
          <a:bodyPr/>
          <a:lstStyle/>
          <a:p>
            <a:endParaRPr/>
          </a:p>
        </p:txBody>
      </p:sp>
      <p:sp>
        <p:nvSpPr>
          <p:cNvPr id="11" name="Text 9"/>
          <p:cNvSpPr/>
          <p:nvPr/>
        </p:nvSpPr>
        <p:spPr>
          <a:xfrm>
            <a:off x="6456680" y="2087882"/>
            <a:ext cx="2030171"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F6690"/>
                </a:solidFill>
                <a:latin typeface="Space Grotesk" pitchFamily="34" charset="0"/>
                <a:ea typeface="Space Grotesk" pitchFamily="34" charset="-122"/>
                <a:cs typeface="Space Grotesk" pitchFamily="34" charset="-120"/>
              </a:rPr>
              <a:t>2.51 GWh</a:t>
            </a:r>
            <a:endParaRPr lang="en-US" sz="3200" dirty="0"/>
          </a:p>
        </p:txBody>
      </p:sp>
      <p:sp>
        <p:nvSpPr>
          <p:cNvPr id="12" name="Text 10"/>
          <p:cNvSpPr/>
          <p:nvPr/>
        </p:nvSpPr>
        <p:spPr>
          <a:xfrm>
            <a:off x="6456680" y="2616200"/>
            <a:ext cx="203017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total electricity, 2023</a:t>
            </a:r>
            <a:endParaRPr lang="en-US" sz="1200" dirty="0"/>
          </a:p>
        </p:txBody>
      </p:sp>
      <p:sp>
        <p:nvSpPr>
          <p:cNvPr id="13" name="Shape 11"/>
          <p:cNvSpPr/>
          <p:nvPr/>
        </p:nvSpPr>
        <p:spPr>
          <a:xfrm>
            <a:off x="8893175" y="1831975"/>
            <a:ext cx="2482850" cy="1466850"/>
          </a:xfrm>
          <a:prstGeom prst="roundRect">
            <a:avLst>
              <a:gd name="adj" fmla="val 6710"/>
            </a:avLst>
          </a:prstGeom>
          <a:solidFill>
            <a:srgbClr val="FCFBF8"/>
          </a:solidFill>
          <a:ln w="6350">
            <a:solidFill>
              <a:srgbClr val="DCD8CE"/>
            </a:solidFill>
            <a:prstDash val="solid"/>
          </a:ln>
        </p:spPr>
        <p:txBody>
          <a:bodyPr/>
          <a:lstStyle/>
          <a:p>
            <a:endParaRPr/>
          </a:p>
        </p:txBody>
      </p:sp>
      <p:sp>
        <p:nvSpPr>
          <p:cNvPr id="14" name="Text 12"/>
          <p:cNvSpPr/>
          <p:nvPr/>
        </p:nvSpPr>
        <p:spPr>
          <a:xfrm>
            <a:off x="9149080" y="2087882"/>
            <a:ext cx="2030171"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F6690"/>
                </a:solidFill>
                <a:latin typeface="Space Grotesk" pitchFamily="34" charset="0"/>
                <a:ea typeface="Space Grotesk" pitchFamily="34" charset="-122"/>
                <a:cs typeface="Space Grotesk" pitchFamily="34" charset="-120"/>
              </a:rPr>
              <a:t>43 / 53</a:t>
            </a:r>
            <a:endParaRPr lang="en-US" sz="3200" dirty="0"/>
          </a:p>
        </p:txBody>
      </p:sp>
      <p:sp>
        <p:nvSpPr>
          <p:cNvPr id="15" name="Text 13"/>
          <p:cNvSpPr/>
          <p:nvPr/>
        </p:nvSpPr>
        <p:spPr>
          <a:xfrm>
            <a:off x="9149080" y="2616200"/>
            <a:ext cx="203017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schools with a recorded intervention</a:t>
            </a:r>
            <a:endParaRPr lang="en-US" sz="1200" dirty="0"/>
          </a:p>
        </p:txBody>
      </p:sp>
      <p:sp>
        <p:nvSpPr>
          <p:cNvPr id="16" name="Shape 14"/>
          <p:cNvSpPr/>
          <p:nvPr/>
        </p:nvSpPr>
        <p:spPr>
          <a:xfrm>
            <a:off x="815975" y="3518535"/>
            <a:ext cx="6729730" cy="1182370"/>
          </a:xfrm>
          <a:prstGeom prst="roundRect">
            <a:avLst>
              <a:gd name="adj" fmla="val 8324"/>
            </a:avLst>
          </a:prstGeom>
          <a:solidFill>
            <a:srgbClr val="FCFBF8"/>
          </a:solidFill>
          <a:ln w="6350">
            <a:solidFill>
              <a:srgbClr val="DCD8CE"/>
            </a:solidFill>
            <a:prstDash val="solid"/>
          </a:ln>
        </p:spPr>
        <p:txBody>
          <a:bodyPr/>
          <a:lstStyle/>
          <a:p>
            <a:endParaRPr/>
          </a:p>
        </p:txBody>
      </p:sp>
      <p:sp>
        <p:nvSpPr>
          <p:cNvPr id="17" name="Text 15"/>
          <p:cNvSpPr/>
          <p:nvPr/>
        </p:nvSpPr>
        <p:spPr>
          <a:xfrm>
            <a:off x="1071880" y="3774442"/>
            <a:ext cx="640445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A74"/>
                </a:solidFill>
                <a:latin typeface="IBM Plex Sans" pitchFamily="34" charset="0"/>
                <a:ea typeface="IBM Plex Sans" pitchFamily="34" charset="-122"/>
                <a:cs typeface="IBM Plex Sans" pitchFamily="34" charset="-120"/>
              </a:rPr>
              <a:t>Schools per funding quintile</a:t>
            </a:r>
            <a:endParaRPr lang="en-US" sz="1200" dirty="0"/>
          </a:p>
        </p:txBody>
      </p:sp>
      <p:sp>
        <p:nvSpPr>
          <p:cNvPr id="18" name="Text 16"/>
          <p:cNvSpPr/>
          <p:nvPr/>
        </p:nvSpPr>
        <p:spPr>
          <a:xfrm>
            <a:off x="1071880" y="4089399"/>
            <a:ext cx="640445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4212B"/>
                </a:solidFill>
                <a:latin typeface="Space Grotesk" pitchFamily="34" charset="0"/>
                <a:ea typeface="Space Grotesk" pitchFamily="34" charset="-122"/>
                <a:cs typeface="Space Grotesk" pitchFamily="34" charset="-120"/>
              </a:rPr>
              <a:t>Q1 18 · Q2 15 · Q3 17 · Q4 3 · Q5 0</a:t>
            </a:r>
            <a:endParaRPr lang="en-US" sz="2000" dirty="0"/>
          </a:p>
        </p:txBody>
      </p:sp>
      <p:sp>
        <p:nvSpPr>
          <p:cNvPr id="19" name="Shape 17"/>
          <p:cNvSpPr/>
          <p:nvPr/>
        </p:nvSpPr>
        <p:spPr>
          <a:xfrm>
            <a:off x="7755255" y="3518535"/>
            <a:ext cx="3620770" cy="1182370"/>
          </a:xfrm>
          <a:prstGeom prst="roundRect">
            <a:avLst>
              <a:gd name="adj" fmla="val 8324"/>
            </a:avLst>
          </a:prstGeom>
          <a:solidFill>
            <a:srgbClr val="FCFBF8"/>
          </a:solidFill>
          <a:ln w="6350">
            <a:solidFill>
              <a:srgbClr val="DCD8CE"/>
            </a:solidFill>
            <a:prstDash val="solid"/>
          </a:ln>
        </p:spPr>
        <p:txBody>
          <a:bodyPr/>
          <a:lstStyle/>
          <a:p>
            <a:endParaRPr/>
          </a:p>
        </p:txBody>
      </p:sp>
      <p:sp>
        <p:nvSpPr>
          <p:cNvPr id="20" name="Text 18"/>
          <p:cNvSpPr/>
          <p:nvPr/>
        </p:nvSpPr>
        <p:spPr>
          <a:xfrm>
            <a:off x="8011160" y="3774442"/>
            <a:ext cx="320222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A74"/>
                </a:solidFill>
                <a:latin typeface="IBM Plex Sans" pitchFamily="34" charset="0"/>
                <a:ea typeface="IBM Plex Sans" pitchFamily="34" charset="-122"/>
                <a:cs typeface="IBM Plex Sans" pitchFamily="34" charset="-120"/>
              </a:rPr>
              <a:t>Limitations</a:t>
            </a:r>
            <a:endParaRPr lang="en-US" sz="1200" dirty="0"/>
          </a:p>
        </p:txBody>
      </p:sp>
      <p:sp>
        <p:nvSpPr>
          <p:cNvPr id="21" name="Text 19"/>
          <p:cNvSpPr/>
          <p:nvPr/>
        </p:nvSpPr>
        <p:spPr>
          <a:xfrm>
            <a:off x="8011160" y="4089399"/>
            <a:ext cx="320222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No Quintile 5 schools; only 3 in Quintile 4.</a:t>
            </a:r>
            <a:endParaRPr lang="en-US" sz="1200" dirty="0"/>
          </a:p>
        </p:txBody>
      </p:sp>
      <p:sp>
        <p:nvSpPr>
          <p:cNvPr id="24" name="Shape 14"/>
          <p:cNvSpPr/>
          <p:nvPr/>
        </p:nvSpPr>
        <p:spPr>
          <a:xfrm>
            <a:off x="813816" y="4937760"/>
            <a:ext cx="10561320" cy="1133856"/>
          </a:xfrm>
          <a:prstGeom prst="roundRect">
            <a:avLst>
              <a:gd name="adj" fmla="val 8324"/>
            </a:avLst>
          </a:prstGeom>
          <a:solidFill>
            <a:srgbClr val="FCFBF8"/>
          </a:solidFill>
          <a:ln w="6350">
            <a:solidFill>
              <a:srgbClr val="DCD8CE"/>
            </a:solidFill>
            <a:prstDash val="solid"/>
          </a:ln>
        </p:spPr>
        <p:txBody>
          <a:bodyPr/>
          <a:lstStyle/>
          <a:p>
            <a:endParaRPr/>
          </a:p>
        </p:txBody>
      </p:sp>
      <p:sp>
        <p:nvSpPr>
          <p:cNvPr id="25" name="Text 15"/>
          <p:cNvSpPr/>
          <p:nvPr/>
        </p:nvSpPr>
        <p:spPr>
          <a:xfrm>
            <a:off x="1069848" y="5120640"/>
            <a:ext cx="10058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E6A74"/>
                </a:solidFill>
                <a:latin typeface="IBM Plex Sans" pitchFamily="34" charset="0"/>
                <a:ea typeface="IBM Plex Sans" pitchFamily="34" charset="-122"/>
                <a:cs typeface="IBM Plex Sans" pitchFamily="34" charset="-120"/>
              </a:rPr>
              <a:t>Five cleaning steps in PySpark</a:t>
            </a:r>
            <a:endParaRPr lang="en-US" sz="1200" dirty="0"/>
          </a:p>
        </p:txBody>
      </p:sp>
      <p:sp>
        <p:nvSpPr>
          <p:cNvPr id="26" name="Text 15"/>
          <p:cNvSpPr/>
          <p:nvPr/>
        </p:nvSpPr>
        <p:spPr>
          <a:xfrm>
            <a:off x="1069848" y="5431536"/>
            <a:ext cx="1892807"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Missing values</a:t>
            </a:r>
            <a:endParaRPr lang="en-US" sz="1200" dirty="0"/>
          </a:p>
        </p:txBody>
      </p:sp>
      <p:sp>
        <p:nvSpPr>
          <p:cNvPr id="27" name="Text 19"/>
          <p:cNvSpPr/>
          <p:nvPr/>
        </p:nvSpPr>
        <p:spPr>
          <a:xfrm>
            <a:off x="1069848" y="5669280"/>
            <a:ext cx="1892807"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School median fill</a:t>
            </a:r>
            <a:endParaRPr lang="en-US" sz="1200" dirty="0"/>
          </a:p>
        </p:txBody>
      </p:sp>
      <p:sp>
        <p:nvSpPr>
          <p:cNvPr id="28" name="Text 15"/>
          <p:cNvSpPr/>
          <p:nvPr/>
        </p:nvSpPr>
        <p:spPr>
          <a:xfrm>
            <a:off x="3090672" y="5431536"/>
            <a:ext cx="1892807"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Outliers</a:t>
            </a:r>
            <a:endParaRPr lang="en-US" sz="1200" dirty="0"/>
          </a:p>
        </p:txBody>
      </p:sp>
      <p:sp>
        <p:nvSpPr>
          <p:cNvPr id="29" name="Text 19"/>
          <p:cNvSpPr/>
          <p:nvPr/>
        </p:nvSpPr>
        <p:spPr>
          <a:xfrm>
            <a:off x="3090672" y="5669280"/>
            <a:ext cx="1892807"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Cap at 99.9th percentile</a:t>
            </a:r>
            <a:endParaRPr lang="en-US" sz="1200" dirty="0"/>
          </a:p>
        </p:txBody>
      </p:sp>
      <p:sp>
        <p:nvSpPr>
          <p:cNvPr id="30" name="Text 15"/>
          <p:cNvSpPr/>
          <p:nvPr/>
        </p:nvSpPr>
        <p:spPr>
          <a:xfrm>
            <a:off x="5111496" y="5431536"/>
            <a:ext cx="1892807"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Inconsistent data</a:t>
            </a:r>
            <a:endParaRPr lang="en-US" sz="1200" dirty="0"/>
          </a:p>
        </p:txBody>
      </p:sp>
      <p:sp>
        <p:nvSpPr>
          <p:cNvPr id="31" name="Text 19"/>
          <p:cNvSpPr/>
          <p:nvPr/>
        </p:nvSpPr>
        <p:spPr>
          <a:xfrm>
            <a:off x="5111496" y="5669280"/>
            <a:ext cx="1892807"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S46 fields rebuilt</a:t>
            </a:r>
            <a:endParaRPr lang="en-US" sz="1200" dirty="0"/>
          </a:p>
        </p:txBody>
      </p:sp>
      <p:sp>
        <p:nvSpPr>
          <p:cNvPr id="32" name="Text 15"/>
          <p:cNvSpPr/>
          <p:nvPr/>
        </p:nvSpPr>
        <p:spPr>
          <a:xfrm>
            <a:off x="7132320" y="5431536"/>
            <a:ext cx="1892807"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Types and time</a:t>
            </a:r>
            <a:endParaRPr lang="en-US" sz="1200" dirty="0"/>
          </a:p>
        </p:txBody>
      </p:sp>
      <p:sp>
        <p:nvSpPr>
          <p:cNvPr id="33" name="Text 19"/>
          <p:cNvSpPr/>
          <p:nvPr/>
        </p:nvSpPr>
        <p:spPr>
          <a:xfrm>
            <a:off x="7132320" y="5669280"/>
            <a:ext cx="1892807"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Local time, numeric kWh</a:t>
            </a:r>
            <a:endParaRPr lang="en-US" sz="1200" dirty="0"/>
          </a:p>
        </p:txBody>
      </p:sp>
      <p:sp>
        <p:nvSpPr>
          <p:cNvPr id="34" name="Text 15"/>
          <p:cNvSpPr/>
          <p:nvPr/>
        </p:nvSpPr>
        <p:spPr>
          <a:xfrm>
            <a:off x="9153144" y="5431536"/>
            <a:ext cx="1892807"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Features</a:t>
            </a:r>
            <a:endParaRPr lang="en-US" sz="1200" dirty="0"/>
          </a:p>
        </p:txBody>
      </p:sp>
      <p:sp>
        <p:nvSpPr>
          <p:cNvPr id="35" name="Text 19"/>
          <p:cNvSpPr/>
          <p:nvPr/>
        </p:nvSpPr>
        <p:spPr>
          <a:xfrm>
            <a:off x="9153144" y="5669280"/>
            <a:ext cx="1892807" cy="23774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Hour, weekend, season</a:t>
            </a:r>
            <a:endParaRPr lang="en-US" sz="1200" dirty="0"/>
          </a:p>
        </p:txBody>
      </p:sp>
      <p:sp>
        <p:nvSpPr>
          <p:cNvPr id="22" name="Text 20"/>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23" name="Text 21"/>
          <p:cNvSpPr/>
          <p:nvPr/>
        </p:nvSpPr>
        <p:spPr>
          <a:xfrm>
            <a:off x="10893616" y="6243321"/>
            <a:ext cx="4855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4 /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CONSUMPTION</a:t>
            </a:r>
            <a:endParaRPr lang="en-US" sz="1200" dirty="0"/>
          </a:p>
        </p:txBody>
      </p:sp>
      <p:sp>
        <p:nvSpPr>
          <p:cNvPr id="3" name="Text 1"/>
          <p:cNvSpPr>
            <a:spLocks noGrp="1"/>
          </p:cNvSpPr>
          <p:nvPr>
            <p:ph type="title"/>
          </p:nvPr>
        </p:nvSpPr>
        <p:spPr>
          <a:xfrm>
            <a:off x="812800" y="10769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Quintile doesn't predict consumption</a:t>
            </a:r>
            <a:endParaRPr lang="en-US" sz="3200" dirty="0"/>
          </a:p>
        </p:txBody>
      </p:sp>
      <p:pic>
        <p:nvPicPr>
          <p:cNvPr id="4" name="Image 0" descr="Mean and median annual kWh per school by quintile: Q1 48,561 and 39,783; Q2 45,885 and 42,180; Q3 47,947 and 40,291; Q4 42,610 and 39,374"/>
          <p:cNvPicPr>
            <a:picLocks noChangeAspect="1"/>
          </p:cNvPicPr>
          <p:nvPr/>
        </p:nvPicPr>
        <p:blipFill>
          <a:blip r:embed="rId3"/>
          <a:srcRect l="-20" r="-20"/>
          <a:stretch/>
        </p:blipFill>
        <p:spPr>
          <a:xfrm>
            <a:off x="812800" y="1828800"/>
            <a:ext cx="6604000" cy="3810000"/>
          </a:xfrm>
          <a:prstGeom prst="rect">
            <a:avLst/>
          </a:prstGeom>
        </p:spPr>
      </p:pic>
      <p:sp>
        <p:nvSpPr>
          <p:cNvPr id="5" name="Text 2"/>
          <p:cNvSpPr/>
          <p:nvPr/>
        </p:nvSpPr>
        <p:spPr>
          <a:xfrm>
            <a:off x="7721600" y="2082800"/>
            <a:ext cx="376732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2B"/>
                </a:solidFill>
                <a:latin typeface="IBM Plex Sans" pitchFamily="34" charset="0"/>
                <a:ea typeface="IBM Plex Sans" pitchFamily="34" charset="-122"/>
                <a:cs typeface="IBM Plex Sans" pitchFamily="34" charset="-120"/>
              </a:rPr>
              <a:t>Per school, every quintile sits between 42,600 and 48,600 kWh a year.</a:t>
            </a:r>
            <a:endParaRPr lang="en-US" sz="1500" dirty="0"/>
          </a:p>
        </p:txBody>
      </p:sp>
      <p:sp>
        <p:nvSpPr>
          <p:cNvPr id="6" name="Text 3"/>
          <p:cNvSpPr/>
          <p:nvPr/>
        </p:nvSpPr>
        <p:spPr>
          <a:xfrm>
            <a:off x="7721600" y="2819400"/>
            <a:ext cx="376732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Q1 has the largest total (874.1 MWh) because it has the most schools.</a:t>
            </a:r>
            <a:endParaRPr lang="en-US" sz="1200" dirty="0"/>
          </a:p>
        </p:txBody>
      </p:sp>
      <p:sp>
        <p:nvSpPr>
          <p:cNvPr id="7" name="Text 4"/>
          <p:cNvSpPr/>
          <p:nvPr/>
        </p:nvSpPr>
        <p:spPr>
          <a:xfrm>
            <a:off x="7721600" y="3449321"/>
            <a:ext cx="376732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Medians below means: a few heavy users pull averages up.</a:t>
            </a:r>
            <a:endParaRPr lang="en-US" sz="1200" dirty="0"/>
          </a:p>
        </p:txBody>
      </p:sp>
      <p:sp>
        <p:nvSpPr>
          <p:cNvPr id="8" name="Text 5"/>
          <p:cNvSpPr/>
          <p:nvPr/>
        </p:nvSpPr>
        <p:spPr>
          <a:xfrm>
            <a:off x="7721600" y="4079242"/>
            <a:ext cx="376732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Descriptive only: no significance test, and Q4 has 3 schools.</a:t>
            </a:r>
            <a:endParaRPr lang="en-US" sz="1200" dirty="0"/>
          </a:p>
        </p:txBody>
      </p:sp>
      <p:sp>
        <p:nvSpPr>
          <p:cNvPr id="9" name="Text 6"/>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0" name="Text 7"/>
          <p:cNvSpPr/>
          <p:nvPr/>
        </p:nvSpPr>
        <p:spPr>
          <a:xfrm>
            <a:off x="10893616" y="6243321"/>
            <a:ext cx="4855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5 / 13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CONSUMPTION</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Per-learner use tells a different story</a:t>
            </a:r>
            <a:endParaRPr lang="en-US" sz="3200" dirty="0"/>
          </a:p>
        </p:txBody>
      </p:sp>
      <p:sp>
        <p:nvSpPr>
          <p:cNvPr id="4" name="Text 2"/>
          <p:cNvSpPr/>
          <p:nvPr/>
        </p:nvSpPr>
        <p:spPr>
          <a:xfrm>
            <a:off x="812800" y="1828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2B"/>
                </a:solidFill>
                <a:latin typeface="IBM Plex Sans" pitchFamily="34" charset="0"/>
                <a:ea typeface="IBM Plex Sans" pitchFamily="34" charset="-122"/>
                <a:cs typeface="IBM Plex Sans" pitchFamily="34" charset="-120"/>
              </a:rPr>
              <a:t>Secondary schools use the most per school on average, but school size changes the picture.</a:t>
            </a:r>
            <a:endParaRPr lang="en-US" sz="1500" dirty="0"/>
          </a:p>
        </p:txBody>
      </p:sp>
      <p:sp>
        <p:nvSpPr>
          <p:cNvPr id="5" name="Shape 3"/>
          <p:cNvSpPr/>
          <p:nvPr/>
        </p:nvSpPr>
        <p:spPr>
          <a:xfrm>
            <a:off x="815975" y="2403475"/>
            <a:ext cx="3380264" cy="2363470"/>
          </a:xfrm>
          <a:prstGeom prst="roundRect">
            <a:avLst>
              <a:gd name="adj" fmla="val 4164"/>
            </a:avLst>
          </a:prstGeom>
          <a:solidFill>
            <a:srgbClr val="FCFBF8"/>
          </a:solidFill>
          <a:ln w="6350">
            <a:solidFill>
              <a:srgbClr val="DCD8CE"/>
            </a:solidFill>
            <a:prstDash val="solid"/>
          </a:ln>
        </p:spPr>
        <p:txBody>
          <a:bodyPr/>
          <a:lstStyle/>
          <a:p>
            <a:endParaRPr/>
          </a:p>
        </p:txBody>
      </p:sp>
      <p:sp>
        <p:nvSpPr>
          <p:cNvPr id="6" name="Text 4"/>
          <p:cNvSpPr/>
          <p:nvPr/>
        </p:nvSpPr>
        <p:spPr>
          <a:xfrm>
            <a:off x="1071880" y="2659379"/>
            <a:ext cx="295450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S24</a:t>
            </a:r>
            <a:r>
              <a:rPr lang="en-US" sz="1500" dirty="0">
                <a:solidFill>
                  <a:srgbClr val="14212B"/>
                </a:solidFill>
                <a:latin typeface="IBM Plex Sans" pitchFamily="34" charset="0"/>
                <a:ea typeface="IBM Plex Sans" pitchFamily="34" charset="-122"/>
                <a:cs typeface="IBM Plex Sans" pitchFamily="34" charset="-120"/>
              </a:rPr>
              <a:t> · Secondary, Q3</a:t>
            </a:r>
            <a:endParaRPr lang="en-US" sz="1500" dirty="0"/>
          </a:p>
        </p:txBody>
      </p:sp>
      <p:sp>
        <p:nvSpPr>
          <p:cNvPr id="7" name="Text 5"/>
          <p:cNvSpPr/>
          <p:nvPr/>
        </p:nvSpPr>
        <p:spPr>
          <a:xfrm>
            <a:off x="1071880" y="3027679"/>
            <a:ext cx="2954507"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101.3</a:t>
            </a:r>
            <a:endParaRPr lang="en-US" sz="4800" dirty="0"/>
          </a:p>
        </p:txBody>
      </p:sp>
      <p:sp>
        <p:nvSpPr>
          <p:cNvPr id="8" name="Text 6"/>
          <p:cNvSpPr/>
          <p:nvPr/>
        </p:nvSpPr>
        <p:spPr>
          <a:xfrm>
            <a:off x="1071880" y="3769364"/>
            <a:ext cx="29545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kWh per learner</a:t>
            </a:r>
            <a:endParaRPr lang="en-US" sz="1200" dirty="0"/>
          </a:p>
        </p:txBody>
      </p:sp>
      <p:sp>
        <p:nvSpPr>
          <p:cNvPr id="9" name="Text 7"/>
          <p:cNvSpPr/>
          <p:nvPr/>
        </p:nvSpPr>
        <p:spPr>
          <a:xfrm>
            <a:off x="1094486" y="4084321"/>
            <a:ext cx="2926567" cy="4521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178,043 kWh in 2023</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1,758 learners</a:t>
            </a:r>
            <a:endParaRPr lang="en-US" sz="1200" dirty="0"/>
          </a:p>
        </p:txBody>
      </p:sp>
      <p:sp>
        <p:nvSpPr>
          <p:cNvPr id="10" name="Shape 8"/>
          <p:cNvSpPr/>
          <p:nvPr/>
        </p:nvSpPr>
        <p:spPr>
          <a:xfrm>
            <a:off x="4405789" y="2403475"/>
            <a:ext cx="3380343" cy="2363470"/>
          </a:xfrm>
          <a:prstGeom prst="roundRect">
            <a:avLst>
              <a:gd name="adj" fmla="val 4164"/>
            </a:avLst>
          </a:prstGeom>
          <a:solidFill>
            <a:srgbClr val="FCFBF8"/>
          </a:solidFill>
          <a:ln w="6350">
            <a:solidFill>
              <a:srgbClr val="DCD8CE"/>
            </a:solidFill>
            <a:prstDash val="solid"/>
          </a:ln>
        </p:spPr>
        <p:txBody>
          <a:bodyPr/>
          <a:lstStyle/>
          <a:p>
            <a:endParaRPr/>
          </a:p>
        </p:txBody>
      </p:sp>
      <p:sp>
        <p:nvSpPr>
          <p:cNvPr id="11" name="Text 9"/>
          <p:cNvSpPr/>
          <p:nvPr/>
        </p:nvSpPr>
        <p:spPr>
          <a:xfrm>
            <a:off x="4661694" y="2659379"/>
            <a:ext cx="29545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S41</a:t>
            </a:r>
            <a:r>
              <a:rPr lang="en-US" sz="1500" dirty="0">
                <a:solidFill>
                  <a:srgbClr val="14212B"/>
                </a:solidFill>
                <a:latin typeface="IBM Plex Sans" pitchFamily="34" charset="0"/>
                <a:ea typeface="IBM Plex Sans" pitchFamily="34" charset="-122"/>
                <a:cs typeface="IBM Plex Sans" pitchFamily="34" charset="-120"/>
              </a:rPr>
              <a:t> · Primary, Q1</a:t>
            </a:r>
            <a:endParaRPr lang="en-US" sz="1500" dirty="0"/>
          </a:p>
        </p:txBody>
      </p:sp>
      <p:sp>
        <p:nvSpPr>
          <p:cNvPr id="12" name="Text 10"/>
          <p:cNvSpPr/>
          <p:nvPr/>
        </p:nvSpPr>
        <p:spPr>
          <a:xfrm>
            <a:off x="4661694" y="3027679"/>
            <a:ext cx="2954589"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95.2</a:t>
            </a:r>
            <a:endParaRPr lang="en-US" sz="4800" dirty="0"/>
          </a:p>
        </p:txBody>
      </p:sp>
      <p:sp>
        <p:nvSpPr>
          <p:cNvPr id="13" name="Text 11"/>
          <p:cNvSpPr/>
          <p:nvPr/>
        </p:nvSpPr>
        <p:spPr>
          <a:xfrm>
            <a:off x="4661694" y="3769364"/>
            <a:ext cx="2954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kWh per learner</a:t>
            </a:r>
            <a:endParaRPr lang="en-US" sz="1200" dirty="0"/>
          </a:p>
        </p:txBody>
      </p:sp>
      <p:sp>
        <p:nvSpPr>
          <p:cNvPr id="14" name="Text 12"/>
          <p:cNvSpPr/>
          <p:nvPr/>
        </p:nvSpPr>
        <p:spPr>
          <a:xfrm>
            <a:off x="4684300" y="4084321"/>
            <a:ext cx="2926649" cy="4521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74,094 kWh, less than half of S24</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Only 778 learners</a:t>
            </a:r>
            <a:endParaRPr lang="en-US" sz="1200" dirty="0"/>
          </a:p>
        </p:txBody>
      </p:sp>
      <p:sp>
        <p:nvSpPr>
          <p:cNvPr id="15" name="Shape 13"/>
          <p:cNvSpPr/>
          <p:nvPr/>
        </p:nvSpPr>
        <p:spPr>
          <a:xfrm>
            <a:off x="7995682" y="2403475"/>
            <a:ext cx="3380343" cy="2363470"/>
          </a:xfrm>
          <a:prstGeom prst="roundRect">
            <a:avLst>
              <a:gd name="adj" fmla="val 4164"/>
            </a:avLst>
          </a:prstGeom>
          <a:solidFill>
            <a:srgbClr val="FCFBF8"/>
          </a:solidFill>
          <a:ln w="6350">
            <a:solidFill>
              <a:srgbClr val="DCD8CE"/>
            </a:solidFill>
            <a:prstDash val="solid"/>
          </a:ln>
        </p:spPr>
        <p:txBody>
          <a:bodyPr/>
          <a:lstStyle/>
          <a:p>
            <a:endParaRPr/>
          </a:p>
        </p:txBody>
      </p:sp>
      <p:sp>
        <p:nvSpPr>
          <p:cNvPr id="16" name="Text 14"/>
          <p:cNvSpPr/>
          <p:nvPr/>
        </p:nvSpPr>
        <p:spPr>
          <a:xfrm>
            <a:off x="8251587" y="2659379"/>
            <a:ext cx="29545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S25</a:t>
            </a:r>
            <a:r>
              <a:rPr lang="en-US" sz="1500" dirty="0">
                <a:solidFill>
                  <a:srgbClr val="14212B"/>
                </a:solidFill>
                <a:latin typeface="IBM Plex Sans" pitchFamily="34" charset="0"/>
                <a:ea typeface="IBM Plex Sans" pitchFamily="34" charset="-122"/>
                <a:cs typeface="IBM Plex Sans" pitchFamily="34" charset="-120"/>
              </a:rPr>
              <a:t> · Primary, Q2</a:t>
            </a:r>
            <a:endParaRPr lang="en-US" sz="1500" dirty="0"/>
          </a:p>
        </p:txBody>
      </p:sp>
      <p:sp>
        <p:nvSpPr>
          <p:cNvPr id="17" name="Text 15"/>
          <p:cNvSpPr/>
          <p:nvPr/>
        </p:nvSpPr>
        <p:spPr>
          <a:xfrm>
            <a:off x="8251587" y="3027679"/>
            <a:ext cx="2954589"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36.2</a:t>
            </a:r>
            <a:endParaRPr lang="en-US" sz="4800" dirty="0"/>
          </a:p>
        </p:txBody>
      </p:sp>
      <p:sp>
        <p:nvSpPr>
          <p:cNvPr id="18" name="Text 16"/>
          <p:cNvSpPr/>
          <p:nvPr/>
        </p:nvSpPr>
        <p:spPr>
          <a:xfrm>
            <a:off x="8251587" y="3769364"/>
            <a:ext cx="2954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kWh per learner</a:t>
            </a:r>
            <a:endParaRPr lang="en-US" sz="1200" dirty="0"/>
          </a:p>
        </p:txBody>
      </p:sp>
      <p:sp>
        <p:nvSpPr>
          <p:cNvPr id="19" name="Text 17"/>
          <p:cNvSpPr/>
          <p:nvPr/>
        </p:nvSpPr>
        <p:spPr>
          <a:xfrm>
            <a:off x="8274193" y="4084321"/>
            <a:ext cx="2926649" cy="4521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68,502 kWh in 2023</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1,894 learners, the most in the dataset</a:t>
            </a:r>
            <a:endParaRPr lang="en-US" sz="1200" dirty="0"/>
          </a:p>
        </p:txBody>
      </p:sp>
      <p:sp>
        <p:nvSpPr>
          <p:cNvPr id="20" name="Text 18"/>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21" name="Text 19"/>
          <p:cNvSpPr/>
          <p:nvPr/>
        </p:nvSpPr>
        <p:spPr>
          <a:xfrm>
            <a:off x="10893616" y="6243321"/>
            <a:ext cx="48558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6 / 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LOAD PROFILE</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A typical school day peaks around midday</a:t>
            </a:r>
            <a:endParaRPr lang="en-US" sz="3200" dirty="0"/>
          </a:p>
        </p:txBody>
      </p:sp>
      <p:pic>
        <p:nvPicPr>
          <p:cNvPr id="4" name="Image 0" descr="Average school-day load by hour for secondary, combined, primary and intermediate schools: flat overnight, sharp rise from 09:00 to 11:00, peak between 11:00 and 12:00 (secondary 8.29, combined 7.61, primary 6.19, intermediate 3.80 kWh per 30 min), gradual decline after 14:00"/>
          <p:cNvPicPr>
            <a:picLocks noChangeAspect="1"/>
          </p:cNvPicPr>
          <p:nvPr/>
        </p:nvPicPr>
        <p:blipFill>
          <a:blip r:embed="rId3"/>
          <a:stretch/>
        </p:blipFill>
        <p:spPr>
          <a:xfrm>
            <a:off x="813816" y="1828800"/>
            <a:ext cx="6601968" cy="3813048"/>
          </a:xfrm>
          <a:prstGeom prst="rect">
            <a:avLst/>
          </a:prstGeom>
        </p:spPr>
      </p:pic>
      <p:sp>
        <p:nvSpPr>
          <p:cNvPr id="5" name="Shape 2"/>
          <p:cNvSpPr/>
          <p:nvPr/>
        </p:nvSpPr>
        <p:spPr>
          <a:xfrm>
            <a:off x="7717536" y="1828800"/>
            <a:ext cx="1764792" cy="1828800"/>
          </a:xfrm>
          <a:prstGeom prst="roundRect">
            <a:avLst>
              <a:gd name="adj" fmla="val 5363"/>
            </a:avLst>
          </a:prstGeom>
          <a:solidFill>
            <a:srgbClr val="FCFBF8"/>
          </a:solidFill>
          <a:ln w="6350">
            <a:solidFill>
              <a:srgbClr val="DCD8CE"/>
            </a:solidFill>
            <a:prstDash val="solid"/>
          </a:ln>
        </p:spPr>
        <p:txBody>
          <a:bodyPr/>
          <a:lstStyle/>
          <a:p>
            <a:endParaRPr/>
          </a:p>
        </p:txBody>
      </p:sp>
      <p:sp>
        <p:nvSpPr>
          <p:cNvPr id="6" name="Text 3"/>
          <p:cNvSpPr/>
          <p:nvPr/>
        </p:nvSpPr>
        <p:spPr>
          <a:xfrm>
            <a:off x="7936992" y="2212848"/>
            <a:ext cx="1417320" cy="2743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Secondary</a:t>
            </a:r>
            <a:endParaRPr lang="en-US" sz="1300" dirty="0"/>
          </a:p>
        </p:txBody>
      </p:sp>
      <p:sp>
        <p:nvSpPr>
          <p:cNvPr id="7" name="Text 4"/>
          <p:cNvSpPr/>
          <p:nvPr/>
        </p:nvSpPr>
        <p:spPr>
          <a:xfrm>
            <a:off x="7936992" y="2578608"/>
            <a:ext cx="1417320" cy="53035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2F6690"/>
                </a:solidFill>
                <a:latin typeface="Space Grotesk" pitchFamily="34" charset="0"/>
                <a:ea typeface="Space Grotesk" pitchFamily="34" charset="-122"/>
                <a:cs typeface="Space Grotesk" pitchFamily="34" charset="-120"/>
              </a:rPr>
              <a:t>8.29</a:t>
            </a:r>
            <a:endParaRPr lang="en-US" sz="3600" dirty="0"/>
          </a:p>
        </p:txBody>
      </p:sp>
      <p:sp>
        <p:nvSpPr>
          <p:cNvPr id="8" name="Text 5"/>
          <p:cNvSpPr/>
          <p:nvPr/>
        </p:nvSpPr>
        <p:spPr>
          <a:xfrm>
            <a:off x="7936992" y="3163824"/>
            <a:ext cx="1417320" cy="420624"/>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kWh per 30 min</a:t>
            </a:r>
            <a:endParaRPr lang="en-US" sz="1100" dirty="0"/>
          </a:p>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at 12:00</a:t>
            </a:r>
            <a:endParaRPr lang="en-US" sz="1100" dirty="0"/>
          </a:p>
        </p:txBody>
      </p:sp>
      <p:sp>
        <p:nvSpPr>
          <p:cNvPr id="9" name="Shape 6"/>
          <p:cNvSpPr/>
          <p:nvPr/>
        </p:nvSpPr>
        <p:spPr>
          <a:xfrm>
            <a:off x="9610344" y="1828800"/>
            <a:ext cx="1764792" cy="1828800"/>
          </a:xfrm>
          <a:prstGeom prst="roundRect">
            <a:avLst>
              <a:gd name="adj" fmla="val 5363"/>
            </a:avLst>
          </a:prstGeom>
          <a:solidFill>
            <a:srgbClr val="FCFBF8"/>
          </a:solidFill>
          <a:ln w="6350">
            <a:solidFill>
              <a:srgbClr val="DCD8CE"/>
            </a:solidFill>
            <a:prstDash val="solid"/>
          </a:ln>
        </p:spPr>
        <p:txBody>
          <a:bodyPr/>
          <a:lstStyle/>
          <a:p>
            <a:endParaRPr/>
          </a:p>
        </p:txBody>
      </p:sp>
      <p:sp>
        <p:nvSpPr>
          <p:cNvPr id="10" name="Text 7"/>
          <p:cNvSpPr/>
          <p:nvPr/>
        </p:nvSpPr>
        <p:spPr>
          <a:xfrm>
            <a:off x="9829800" y="2212848"/>
            <a:ext cx="1417320" cy="2743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Combined</a:t>
            </a:r>
            <a:endParaRPr lang="en-US" sz="1300" dirty="0"/>
          </a:p>
        </p:txBody>
      </p:sp>
      <p:sp>
        <p:nvSpPr>
          <p:cNvPr id="11" name="Text 8"/>
          <p:cNvSpPr/>
          <p:nvPr/>
        </p:nvSpPr>
        <p:spPr>
          <a:xfrm>
            <a:off x="9829800" y="2578608"/>
            <a:ext cx="1417320" cy="53035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2F6690"/>
                </a:solidFill>
                <a:latin typeface="Space Grotesk" pitchFamily="34" charset="0"/>
                <a:ea typeface="Space Grotesk" pitchFamily="34" charset="-122"/>
                <a:cs typeface="Space Grotesk" pitchFamily="34" charset="-120"/>
              </a:rPr>
              <a:t>7.61</a:t>
            </a:r>
            <a:endParaRPr lang="en-US" sz="3600" dirty="0"/>
          </a:p>
        </p:txBody>
      </p:sp>
      <p:sp>
        <p:nvSpPr>
          <p:cNvPr id="12" name="Text 9"/>
          <p:cNvSpPr/>
          <p:nvPr/>
        </p:nvSpPr>
        <p:spPr>
          <a:xfrm>
            <a:off x="9829800" y="3163824"/>
            <a:ext cx="1417320" cy="420624"/>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kWh per 30 min</a:t>
            </a:r>
            <a:endParaRPr lang="en-US" sz="1100" dirty="0"/>
          </a:p>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at 11:00</a:t>
            </a:r>
            <a:endParaRPr lang="en-US" sz="1100" dirty="0"/>
          </a:p>
        </p:txBody>
      </p:sp>
      <p:sp>
        <p:nvSpPr>
          <p:cNvPr id="13" name="Shape 10"/>
          <p:cNvSpPr/>
          <p:nvPr/>
        </p:nvSpPr>
        <p:spPr>
          <a:xfrm>
            <a:off x="7717536" y="3813048"/>
            <a:ext cx="1764792" cy="1828800"/>
          </a:xfrm>
          <a:prstGeom prst="roundRect">
            <a:avLst>
              <a:gd name="adj" fmla="val 5363"/>
            </a:avLst>
          </a:prstGeom>
          <a:solidFill>
            <a:srgbClr val="FCFBF8"/>
          </a:solidFill>
          <a:ln w="6350">
            <a:solidFill>
              <a:srgbClr val="DCD8CE"/>
            </a:solidFill>
            <a:prstDash val="solid"/>
          </a:ln>
        </p:spPr>
        <p:txBody>
          <a:bodyPr/>
          <a:lstStyle/>
          <a:p>
            <a:endParaRPr/>
          </a:p>
        </p:txBody>
      </p:sp>
      <p:sp>
        <p:nvSpPr>
          <p:cNvPr id="14" name="Text 11"/>
          <p:cNvSpPr/>
          <p:nvPr/>
        </p:nvSpPr>
        <p:spPr>
          <a:xfrm>
            <a:off x="7936992" y="4197096"/>
            <a:ext cx="1417320" cy="2743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Primary</a:t>
            </a:r>
            <a:endParaRPr lang="en-US" sz="1300" dirty="0"/>
          </a:p>
        </p:txBody>
      </p:sp>
      <p:sp>
        <p:nvSpPr>
          <p:cNvPr id="15" name="Text 12"/>
          <p:cNvSpPr/>
          <p:nvPr/>
        </p:nvSpPr>
        <p:spPr>
          <a:xfrm>
            <a:off x="7936992" y="4562856"/>
            <a:ext cx="1417320" cy="53035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2F6690"/>
                </a:solidFill>
                <a:latin typeface="Space Grotesk" pitchFamily="34" charset="0"/>
                <a:ea typeface="Space Grotesk" pitchFamily="34" charset="-122"/>
                <a:cs typeface="Space Grotesk" pitchFamily="34" charset="-120"/>
              </a:rPr>
              <a:t>6.19</a:t>
            </a:r>
            <a:endParaRPr lang="en-US" sz="3600" dirty="0"/>
          </a:p>
        </p:txBody>
      </p:sp>
      <p:sp>
        <p:nvSpPr>
          <p:cNvPr id="16" name="Text 13"/>
          <p:cNvSpPr/>
          <p:nvPr/>
        </p:nvSpPr>
        <p:spPr>
          <a:xfrm>
            <a:off x="7936992" y="5148072"/>
            <a:ext cx="1417320" cy="420624"/>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kWh per 30 min</a:t>
            </a:r>
            <a:endParaRPr lang="en-US" sz="1100" dirty="0"/>
          </a:p>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at 12:00</a:t>
            </a:r>
            <a:endParaRPr lang="en-US" sz="1100" dirty="0"/>
          </a:p>
        </p:txBody>
      </p:sp>
      <p:sp>
        <p:nvSpPr>
          <p:cNvPr id="19" name="Shape 10"/>
          <p:cNvSpPr/>
          <p:nvPr/>
        </p:nvSpPr>
        <p:spPr>
          <a:xfrm>
            <a:off x="9610344" y="3813048"/>
            <a:ext cx="1764792" cy="1828800"/>
          </a:xfrm>
          <a:prstGeom prst="roundRect">
            <a:avLst>
              <a:gd name="adj" fmla="val 5363"/>
            </a:avLst>
          </a:prstGeom>
          <a:solidFill>
            <a:srgbClr val="FCFBF8"/>
          </a:solidFill>
          <a:ln w="6350">
            <a:solidFill>
              <a:srgbClr val="DCD8CE"/>
            </a:solidFill>
            <a:prstDash val="solid"/>
          </a:ln>
        </p:spPr>
        <p:txBody>
          <a:bodyPr/>
          <a:lstStyle/>
          <a:p>
            <a:endParaRPr/>
          </a:p>
        </p:txBody>
      </p:sp>
      <p:sp>
        <p:nvSpPr>
          <p:cNvPr id="20" name="Text 11"/>
          <p:cNvSpPr/>
          <p:nvPr/>
        </p:nvSpPr>
        <p:spPr>
          <a:xfrm>
            <a:off x="9829800" y="4197096"/>
            <a:ext cx="1417320" cy="27432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Intermediate</a:t>
            </a:r>
            <a:endParaRPr lang="en-US" sz="1300" dirty="0"/>
          </a:p>
        </p:txBody>
      </p:sp>
      <p:sp>
        <p:nvSpPr>
          <p:cNvPr id="21" name="Text 12"/>
          <p:cNvSpPr/>
          <p:nvPr/>
        </p:nvSpPr>
        <p:spPr>
          <a:xfrm>
            <a:off x="9829800" y="4562856"/>
            <a:ext cx="1417320" cy="53035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2F6690"/>
                </a:solidFill>
                <a:latin typeface="Space Grotesk" pitchFamily="34" charset="0"/>
                <a:ea typeface="Space Grotesk" pitchFamily="34" charset="-122"/>
                <a:cs typeface="Space Grotesk" pitchFamily="34" charset="-120"/>
              </a:rPr>
              <a:t>3.80</a:t>
            </a:r>
            <a:endParaRPr lang="en-US" sz="3600" dirty="0"/>
          </a:p>
        </p:txBody>
      </p:sp>
      <p:sp>
        <p:nvSpPr>
          <p:cNvPr id="22" name="Text 13"/>
          <p:cNvSpPr/>
          <p:nvPr/>
        </p:nvSpPr>
        <p:spPr>
          <a:xfrm>
            <a:off x="9829800" y="5148072"/>
            <a:ext cx="1417320" cy="420624"/>
          </a:xfrm>
          <a:prstGeom prst="rect">
            <a:avLst/>
          </a:prstGeom>
          <a:noFill/>
          <a:ln/>
        </p:spPr>
        <p:txBody>
          <a:bodyPr wrap="square" lIns="0" tIns="0" rIns="0" bIns="0" rtlCol="0" anchor="t">
            <a:normAutofit/>
          </a:bodyPr>
          <a:lstStyle/>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kWh per 30 min</a:t>
            </a:r>
            <a:endParaRPr lang="en-US" sz="1100" dirty="0"/>
          </a:p>
          <a:p>
            <a:pPr marL="0" indent="0" algn="l">
              <a:lnSpc>
                <a:spcPts val="1540"/>
              </a:lnSpc>
              <a:buNone/>
            </a:pPr>
            <a:r>
              <a:rPr lang="en-US" sz="1100" dirty="0">
                <a:solidFill>
                  <a:srgbClr val="5E6A74"/>
                </a:solidFill>
                <a:latin typeface="IBM Plex Sans" pitchFamily="34" charset="0"/>
                <a:ea typeface="IBM Plex Sans" pitchFamily="34" charset="-122"/>
                <a:cs typeface="IBM Plex Sans" pitchFamily="34" charset="-120"/>
              </a:rPr>
              <a:t>at 11:00</a:t>
            </a:r>
            <a:endParaRPr lang="en-US" sz="1100" dirty="0"/>
          </a:p>
        </p:txBody>
      </p:sp>
      <p:sp>
        <p:nvSpPr>
          <p:cNvPr id="17" name="Text 14"/>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8" name="Text 15"/>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7 / 13</a:t>
            </a:r>
            <a:endParaRPr lang="en-US" sz="1200" dirty="0"/>
          </a:p>
        </p:txBody>
      </p:sp>
      <p:sp>
        <p:nvSpPr>
          <p:cNvPr id="23" name="Series swatch Secondary"/>
          <p:cNvSpPr/>
          <p:nvPr/>
        </p:nvSpPr>
        <p:spPr>
          <a:xfrm>
            <a:off x="7936992" y="2057400"/>
            <a:ext cx="502920" cy="64008"/>
          </a:xfrm>
          <a:prstGeom prst="roundRect">
            <a:avLst>
              <a:gd name="adj" fmla="val 50000"/>
            </a:avLst>
          </a:prstGeom>
          <a:solidFill>
            <a:srgbClr val="2F6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eries swatch Combined"/>
          <p:cNvSpPr/>
          <p:nvPr/>
        </p:nvSpPr>
        <p:spPr>
          <a:xfrm>
            <a:off x="9829800" y="2057400"/>
            <a:ext cx="502920" cy="64008"/>
          </a:xfrm>
          <a:prstGeom prst="roundRect">
            <a:avLst>
              <a:gd name="adj" fmla="val 50000"/>
            </a:avLst>
          </a:prstGeom>
          <a:solidFill>
            <a:srgbClr val="3E9B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eries swatch Primary"/>
          <p:cNvSpPr/>
          <p:nvPr/>
        </p:nvSpPr>
        <p:spPr>
          <a:xfrm>
            <a:off x="7936992" y="4041648"/>
            <a:ext cx="502920" cy="64008"/>
          </a:xfrm>
          <a:prstGeom prst="roundRect">
            <a:avLst>
              <a:gd name="adj" fmla="val 50000"/>
            </a:avLst>
          </a:prstGeom>
          <a:solidFill>
            <a:srgbClr val="F2A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eries swatch Intermediate"/>
          <p:cNvSpPr/>
          <p:nvPr/>
        </p:nvSpPr>
        <p:spPr>
          <a:xfrm>
            <a:off x="9829800" y="4041648"/>
            <a:ext cx="502920" cy="64008"/>
          </a:xfrm>
          <a:prstGeom prst="roundRect">
            <a:avLst>
              <a:gd name="adj" fmla="val 50000"/>
            </a:avLst>
          </a:prstGeom>
          <a:solidFill>
            <a:srgbClr val="7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LOAD PROFILE</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Weekends keep over half the weekday load</a:t>
            </a:r>
            <a:endParaRPr lang="en-US" sz="3200" dirty="0"/>
          </a:p>
        </p:txBody>
      </p:sp>
      <p:pic>
        <p:nvPicPr>
          <p:cNvPr id="4" name="Image 0" descr="Mean half-hour demand, weekday vs weekend: Q1 3.417 vs 2.205, Q2 3.345 vs 2.011, Q3 3.409 vs 2.162, Q4 3.097 vs 1.817 kWh per 30 minutes"/>
          <p:cNvPicPr>
            <a:picLocks noChangeAspect="1"/>
          </p:cNvPicPr>
          <p:nvPr/>
        </p:nvPicPr>
        <p:blipFill>
          <a:blip r:embed="rId3"/>
          <a:srcRect l="-20" r="-20"/>
          <a:stretch/>
        </p:blipFill>
        <p:spPr>
          <a:xfrm>
            <a:off x="812800" y="1828800"/>
            <a:ext cx="6604000" cy="3810000"/>
          </a:xfrm>
          <a:prstGeom prst="rect">
            <a:avLst/>
          </a:prstGeom>
        </p:spPr>
      </p:pic>
      <p:sp>
        <p:nvSpPr>
          <p:cNvPr id="5" name="Text 2"/>
          <p:cNvSpPr/>
          <p:nvPr/>
        </p:nvSpPr>
        <p:spPr>
          <a:xfrm>
            <a:off x="7721600" y="2082800"/>
            <a:ext cx="3767328"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59–65%</a:t>
            </a:r>
            <a:endParaRPr lang="en-US" sz="4800" dirty="0"/>
          </a:p>
        </p:txBody>
      </p:sp>
      <p:sp>
        <p:nvSpPr>
          <p:cNvPr id="6" name="Text 3"/>
          <p:cNvSpPr/>
          <p:nvPr/>
        </p:nvSpPr>
        <p:spPr>
          <a:xfrm>
            <a:off x="7721600" y="2875279"/>
            <a:ext cx="376732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2B"/>
                </a:solidFill>
                <a:latin typeface="IBM Plex Sans" pitchFamily="34" charset="0"/>
                <a:ea typeface="IBM Plex Sans" pitchFamily="34" charset="-122"/>
                <a:cs typeface="IBM Plex Sans" pitchFamily="34" charset="-120"/>
              </a:rPr>
              <a:t>of weekday demand remains at weekends, in every quintile.</a:t>
            </a:r>
            <a:endParaRPr lang="en-US" sz="1500" dirty="0"/>
          </a:p>
        </p:txBody>
      </p:sp>
      <p:sp>
        <p:nvSpPr>
          <p:cNvPr id="7" name="Text 4"/>
          <p:cNvSpPr/>
          <p:nvPr/>
        </p:nvSpPr>
        <p:spPr>
          <a:xfrm>
            <a:off x="7721600" y="3561079"/>
            <a:ext cx="376732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5"/>
                </a:solidFill>
                <a:latin typeface="IBM Plex Sans" pitchFamily="34" charset="0"/>
                <a:ea typeface="IBM Plex Sans" pitchFamily="34" charset="-122"/>
                <a:cs typeface="IBM Plex Sans" pitchFamily="34" charset="-120"/>
              </a:rPr>
              <a:t>Likely continuous loads: security lighting, network gear, refrigeration, idle HVAC.</a:t>
            </a:r>
            <a:endParaRPr lang="en-US" sz="1200" dirty="0"/>
          </a:p>
        </p:txBody>
      </p:sp>
      <p:sp>
        <p:nvSpPr>
          <p:cNvPr id="8" name="Text 5"/>
          <p:cNvSpPr/>
          <p:nvPr/>
        </p:nvSpPr>
        <p:spPr>
          <a:xfrm>
            <a:off x="7721600" y="4140200"/>
            <a:ext cx="438912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2B"/>
                </a:solidFill>
                <a:latin typeface="IBM Plex Sans" pitchFamily="34" charset="0"/>
                <a:ea typeface="IBM Plex Sans" pitchFamily="34" charset="-122"/>
                <a:cs typeface="IBM Plex Sans" pitchFamily="34" charset="-120"/>
              </a:rPr>
              <a:t>Cheap targets: circuit timers and better scheduling.</a:t>
            </a:r>
            <a:endParaRPr lang="en-US" sz="1200" dirty="0"/>
          </a:p>
        </p:txBody>
      </p:sp>
      <p:sp>
        <p:nvSpPr>
          <p:cNvPr id="9" name="Text 6"/>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0" name="Text 7"/>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8 / 13</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PEAKS AND BASELOAD</a:t>
            </a:r>
            <a:endParaRPr lang="en-US" sz="1200" dirty="0"/>
          </a:p>
        </p:txBody>
      </p:sp>
      <p:sp>
        <p:nvSpPr>
          <p:cNvPr id="3" name="Text 1"/>
          <p:cNvSpPr>
            <a:spLocks noGrp="1"/>
          </p:cNvSpPr>
          <p:nvPr>
            <p:ph type="title"/>
          </p:nvPr>
        </p:nvSpPr>
        <p:spPr>
          <a:xfrm>
            <a:off x="812800" y="1076964"/>
            <a:ext cx="10883392" cy="9194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The extremes: winter peaks and a night that never ends</a:t>
            </a:r>
            <a:endParaRPr lang="en-US" sz="3200" dirty="0"/>
          </a:p>
        </p:txBody>
      </p:sp>
      <p:sp>
        <p:nvSpPr>
          <p:cNvPr id="4" name="Shape 2"/>
          <p:cNvSpPr/>
          <p:nvPr/>
        </p:nvSpPr>
        <p:spPr>
          <a:xfrm>
            <a:off x="815975" y="2279017"/>
            <a:ext cx="3380264" cy="2261870"/>
          </a:xfrm>
          <a:prstGeom prst="roundRect">
            <a:avLst>
              <a:gd name="adj" fmla="val 4351"/>
            </a:avLst>
          </a:prstGeom>
          <a:solidFill>
            <a:srgbClr val="FCFBF8"/>
          </a:solidFill>
          <a:ln w="6350">
            <a:solidFill>
              <a:srgbClr val="DCD8CE"/>
            </a:solidFill>
            <a:prstDash val="solid"/>
          </a:ln>
        </p:spPr>
        <p:txBody>
          <a:bodyPr/>
          <a:lstStyle/>
          <a:p>
            <a:endParaRPr/>
          </a:p>
        </p:txBody>
      </p:sp>
      <p:sp>
        <p:nvSpPr>
          <p:cNvPr id="5" name="Text 3"/>
          <p:cNvSpPr/>
          <p:nvPr/>
        </p:nvSpPr>
        <p:spPr>
          <a:xfrm>
            <a:off x="1071880" y="2534921"/>
            <a:ext cx="2954507"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≈36 kWh</a:t>
            </a:r>
            <a:endParaRPr lang="en-US" sz="4800" dirty="0"/>
          </a:p>
        </p:txBody>
      </p:sp>
      <p:sp>
        <p:nvSpPr>
          <p:cNvPr id="6" name="Text 4"/>
          <p:cNvSpPr/>
          <p:nvPr/>
        </p:nvSpPr>
        <p:spPr>
          <a:xfrm>
            <a:off x="1071880" y="3276600"/>
            <a:ext cx="295450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Highest half-hour readings</a:t>
            </a:r>
            <a:endParaRPr lang="en-US" sz="1500" dirty="0"/>
          </a:p>
        </p:txBody>
      </p:sp>
      <p:sp>
        <p:nvSpPr>
          <p:cNvPr id="7" name="Text 5"/>
          <p:cNvSpPr/>
          <p:nvPr/>
        </p:nvSpPr>
        <p:spPr>
          <a:xfrm>
            <a:off x="1094486" y="3644900"/>
            <a:ext cx="2926567" cy="66548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About 71 kW average power</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Secondary schools S43, S48, S47</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Mostly in winter, 10:00–14:00</a:t>
            </a:r>
            <a:endParaRPr lang="en-US" sz="1200" dirty="0"/>
          </a:p>
        </p:txBody>
      </p:sp>
      <p:sp>
        <p:nvSpPr>
          <p:cNvPr id="8" name="Shape 6"/>
          <p:cNvSpPr/>
          <p:nvPr/>
        </p:nvSpPr>
        <p:spPr>
          <a:xfrm>
            <a:off x="4405789" y="2279017"/>
            <a:ext cx="3380343" cy="2261870"/>
          </a:xfrm>
          <a:prstGeom prst="roundRect">
            <a:avLst>
              <a:gd name="adj" fmla="val 4351"/>
            </a:avLst>
          </a:prstGeom>
          <a:solidFill>
            <a:srgbClr val="FCFBF8"/>
          </a:solidFill>
          <a:ln w="6350">
            <a:solidFill>
              <a:srgbClr val="DCD8CE"/>
            </a:solidFill>
            <a:prstDash val="solid"/>
          </a:ln>
        </p:spPr>
        <p:txBody>
          <a:bodyPr/>
          <a:lstStyle/>
          <a:p>
            <a:endParaRPr/>
          </a:p>
        </p:txBody>
      </p:sp>
      <p:sp>
        <p:nvSpPr>
          <p:cNvPr id="9" name="Text 7"/>
          <p:cNvSpPr/>
          <p:nvPr/>
        </p:nvSpPr>
        <p:spPr>
          <a:xfrm>
            <a:off x="4661694" y="2534921"/>
            <a:ext cx="2954589"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12–14%</a:t>
            </a:r>
            <a:endParaRPr lang="en-US" sz="4800" dirty="0"/>
          </a:p>
        </p:txBody>
      </p:sp>
      <p:sp>
        <p:nvSpPr>
          <p:cNvPr id="10" name="Text 8"/>
          <p:cNvSpPr/>
          <p:nvPr/>
        </p:nvSpPr>
        <p:spPr>
          <a:xfrm>
            <a:off x="4661694" y="3276600"/>
            <a:ext cx="312126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of annual use falls 01:00–04:30</a:t>
            </a:r>
            <a:endParaRPr lang="en-US" sz="1500" dirty="0"/>
          </a:p>
        </p:txBody>
      </p:sp>
      <p:sp>
        <p:nvSpPr>
          <p:cNvPr id="11" name="Text 9"/>
          <p:cNvSpPr/>
          <p:nvPr/>
        </p:nvSpPr>
        <p:spPr>
          <a:xfrm>
            <a:off x="4684300" y="3644900"/>
            <a:ext cx="2926649" cy="4521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A persistent overnight baseload</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Similar across all quintiles</a:t>
            </a:r>
            <a:endParaRPr lang="en-US" sz="1200" dirty="0"/>
          </a:p>
        </p:txBody>
      </p:sp>
      <p:sp>
        <p:nvSpPr>
          <p:cNvPr id="12" name="Shape 10"/>
          <p:cNvSpPr/>
          <p:nvPr/>
        </p:nvSpPr>
        <p:spPr>
          <a:xfrm>
            <a:off x="7995682" y="2279017"/>
            <a:ext cx="3380343" cy="2261870"/>
          </a:xfrm>
          <a:prstGeom prst="roundRect">
            <a:avLst>
              <a:gd name="adj" fmla="val 4351"/>
            </a:avLst>
          </a:prstGeom>
          <a:solidFill>
            <a:srgbClr val="FCFBF8"/>
          </a:solidFill>
          <a:ln w="6350">
            <a:solidFill>
              <a:srgbClr val="DCD8CE"/>
            </a:solidFill>
            <a:prstDash val="solid"/>
          </a:ln>
        </p:spPr>
        <p:txBody>
          <a:bodyPr/>
          <a:lstStyle/>
          <a:p>
            <a:endParaRPr/>
          </a:p>
        </p:txBody>
      </p:sp>
      <p:sp>
        <p:nvSpPr>
          <p:cNvPr id="13" name="Text 11"/>
          <p:cNvSpPr/>
          <p:nvPr/>
        </p:nvSpPr>
        <p:spPr>
          <a:xfrm>
            <a:off x="8251587" y="2534921"/>
            <a:ext cx="2954589" cy="665480"/>
          </a:xfrm>
          <a:prstGeom prst="rect">
            <a:avLst/>
          </a:prstGeom>
          <a:noFill/>
          <a:ln/>
        </p:spPr>
        <p:txBody>
          <a:bodyPr wrap="square" lIns="0" tIns="0" rIns="0" bIns="0" rtlCol="0" anchor="t">
            <a:normAutofit/>
          </a:bodyPr>
          <a:lstStyle/>
          <a:p>
            <a:pPr marL="0" indent="0" algn="l">
              <a:lnSpc>
                <a:spcPts val="5040"/>
              </a:lnSpc>
              <a:buNone/>
            </a:pPr>
            <a:r>
              <a:rPr lang="en-US" sz="4800" b="1" dirty="0">
                <a:solidFill>
                  <a:srgbClr val="2F6690"/>
                </a:solidFill>
                <a:latin typeface="Space Grotesk" pitchFamily="34" charset="0"/>
                <a:ea typeface="Space Grotesk" pitchFamily="34" charset="-122"/>
                <a:cs typeface="Space Grotesk" pitchFamily="34" charset="-120"/>
              </a:rPr>
              <a:t>≈9.3 kWh</a:t>
            </a:r>
            <a:endParaRPr lang="en-US" sz="4800" dirty="0"/>
          </a:p>
        </p:txBody>
      </p:sp>
      <p:sp>
        <p:nvSpPr>
          <p:cNvPr id="14" name="Text 12"/>
          <p:cNvSpPr/>
          <p:nvPr/>
        </p:nvSpPr>
        <p:spPr>
          <a:xfrm>
            <a:off x="8251587" y="3276600"/>
            <a:ext cx="295458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S24 every half hour, all night</a:t>
            </a:r>
            <a:endParaRPr lang="en-US" sz="1500" dirty="0"/>
          </a:p>
        </p:txBody>
      </p:sp>
      <p:sp>
        <p:nvSpPr>
          <p:cNvPr id="15" name="Text 13"/>
          <p:cNvSpPr/>
          <p:nvPr/>
        </p:nvSpPr>
        <p:spPr>
          <a:xfrm>
            <a:off x="8274193" y="3644900"/>
            <a:ext cx="2926649" cy="4521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Around 19 kW, continuously</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Strong candidate for an energy audit</a:t>
            </a:r>
            <a:endParaRPr lang="en-US" sz="1200" dirty="0"/>
          </a:p>
        </p:txBody>
      </p:sp>
      <p:sp>
        <p:nvSpPr>
          <p:cNvPr id="16" name="Text 14"/>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7" name="Text 15"/>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9 / 13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TOP CONSUMERS</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Ten schools use about a third of all electricity</a:t>
            </a:r>
            <a:endParaRPr lang="en-US" sz="3200" dirty="0"/>
          </a:p>
        </p:txBody>
      </p:sp>
      <p:pic>
        <p:nvPicPr>
          <p:cNvPr id="4" name="Image 0" descr="Top 10 annual consumers in kWh: S24 178,043; S49 86,493; S43 84,845; S48 82,254; S3 78,652; S47 75,845; S41 74,094; S25 68,502; S17 68,043; S14 64,939"/>
          <p:cNvPicPr>
            <a:picLocks noChangeAspect="1"/>
          </p:cNvPicPr>
          <p:nvPr/>
        </p:nvPicPr>
        <p:blipFill>
          <a:blip r:embed="rId3"/>
          <a:srcRect l="-11" r="-11"/>
          <a:stretch/>
        </p:blipFill>
        <p:spPr>
          <a:xfrm>
            <a:off x="812800" y="1828800"/>
            <a:ext cx="10566400" cy="3683000"/>
          </a:xfrm>
          <a:prstGeom prst="rect">
            <a:avLst/>
          </a:prstGeom>
        </p:spPr>
      </p:pic>
      <p:sp>
        <p:nvSpPr>
          <p:cNvPr id="5" name="Text 2"/>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6" name="Text 3"/>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10 / 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RESULTS · INTERVENTIONS</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Intervened schools use less, with caveats</a:t>
            </a:r>
            <a:endParaRPr lang="en-US" sz="3200" dirty="0"/>
          </a:p>
        </p:txBody>
      </p:sp>
      <p:pic>
        <p:nvPicPr>
          <p:cNvPr id="4" name="Image 0" descr="Mean annual kWh, no intervention vs intervention: Q1 56,673 vs 46,243; Q2 57,706 vs 42,930; Q3 34,939 vs 49,681; Q4 39,374 vs 44,228; all 50,906 vs 46,424"/>
          <p:cNvPicPr>
            <a:picLocks noChangeAspect="1"/>
          </p:cNvPicPr>
          <p:nvPr/>
        </p:nvPicPr>
        <p:blipFill>
          <a:blip r:embed="rId3"/>
          <a:srcRect t="-11" b="-11"/>
          <a:stretch/>
        </p:blipFill>
        <p:spPr>
          <a:xfrm>
            <a:off x="812800" y="1828800"/>
            <a:ext cx="6731000" cy="3810000"/>
          </a:xfrm>
          <a:prstGeom prst="rect">
            <a:avLst/>
          </a:prstGeom>
        </p:spPr>
      </p:pic>
      <p:sp>
        <p:nvSpPr>
          <p:cNvPr id="5" name="Text 2"/>
          <p:cNvSpPr/>
          <p:nvPr/>
        </p:nvSpPr>
        <p:spPr>
          <a:xfrm>
            <a:off x="7797800" y="2082800"/>
            <a:ext cx="3688842" cy="452120"/>
          </a:xfrm>
          <a:prstGeom prst="rect">
            <a:avLst/>
          </a:prstGeom>
          <a:noFill/>
          <a:ln/>
        </p:spPr>
        <p:txBody>
          <a:bodyPr wrap="square" lIns="0" tIns="0" rIns="0" bIns="0" rtlCol="0" anchor="t">
            <a:normAutofit/>
          </a:bodyPr>
          <a:lstStyle/>
          <a:p>
            <a:pPr marL="0" indent="0" algn="l">
              <a:lnSpc>
                <a:spcPts val="3360"/>
              </a:lnSpc>
              <a:buNone/>
            </a:pPr>
            <a:r>
              <a:rPr lang="en-US" sz="3200" b="1" dirty="0">
                <a:solidFill>
                  <a:srgbClr val="2F6690"/>
                </a:solidFill>
                <a:latin typeface="Space Grotesk" pitchFamily="34" charset="0"/>
                <a:ea typeface="Space Grotesk" pitchFamily="34" charset="-122"/>
                <a:cs typeface="Space Grotesk" pitchFamily="34" charset="-120"/>
              </a:rPr>
              <a:t>≈4,500 kWh</a:t>
            </a:r>
            <a:endParaRPr lang="en-US" sz="3200" dirty="0"/>
          </a:p>
        </p:txBody>
      </p:sp>
      <p:sp>
        <p:nvSpPr>
          <p:cNvPr id="6" name="Text 3"/>
          <p:cNvSpPr/>
          <p:nvPr/>
        </p:nvSpPr>
        <p:spPr>
          <a:xfrm>
            <a:off x="7797800" y="2661921"/>
            <a:ext cx="368884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2B"/>
                </a:solidFill>
                <a:latin typeface="IBM Plex Sans" pitchFamily="34" charset="0"/>
                <a:ea typeface="IBM Plex Sans" pitchFamily="34" charset="-122"/>
                <a:cs typeface="IBM Plex Sans" pitchFamily="34" charset="-120"/>
              </a:rPr>
              <a:t>less per year on average with an intervention (46,424 vs 50,906)</a:t>
            </a:r>
            <a:endParaRPr lang="en-US" sz="1500" dirty="0"/>
          </a:p>
        </p:txBody>
      </p:sp>
      <p:sp>
        <p:nvSpPr>
          <p:cNvPr id="7" name="Text 4"/>
          <p:cNvSpPr/>
          <p:nvPr/>
        </p:nvSpPr>
        <p:spPr>
          <a:xfrm>
            <a:off x="7820406" y="3347721"/>
            <a:ext cx="3660902" cy="118872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Clear in Q1 and Q2</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Reversed in Q3, largely due to S24</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Without S24, the Q3 intervened mean falls from 49,681 to ≈40,500 kWh</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Q4 too small to read</a:t>
            </a:r>
            <a:endParaRPr lang="en-US" sz="1200" dirty="0"/>
          </a:p>
        </p:txBody>
      </p:sp>
      <p:sp>
        <p:nvSpPr>
          <p:cNvPr id="8" name="Text 5"/>
          <p:cNvSpPr/>
          <p:nvPr/>
        </p:nvSpPr>
        <p:spPr>
          <a:xfrm>
            <a:off x="7797800" y="4681728"/>
            <a:ext cx="368884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Association, not causation: no data on intervention type, timing or prior use.</a:t>
            </a:r>
            <a:endParaRPr lang="en-US" sz="1200" dirty="0"/>
          </a:p>
        </p:txBody>
      </p:sp>
      <p:sp>
        <p:nvSpPr>
          <p:cNvPr id="9" name="Text 6"/>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0" name="Text 7"/>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11 / 13</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9A5B00"/>
                </a:solidFill>
                <a:latin typeface="IBM Plex Sans" pitchFamily="34" charset="0"/>
                <a:ea typeface="IBM Plex Sans" pitchFamily="34" charset="-122"/>
                <a:cs typeface="IBM Plex Sans" pitchFamily="34" charset="-120"/>
              </a:rPr>
              <a:t>CONCLUSIONS</a:t>
            </a:r>
            <a:endParaRPr lang="en-US" sz="1200" dirty="0"/>
          </a:p>
        </p:txBody>
      </p:sp>
      <p:sp>
        <p:nvSpPr>
          <p:cNvPr id="3" name="Text 1"/>
          <p:cNvSpPr>
            <a:spLocks noGrp="1"/>
          </p:cNvSpPr>
          <p:nvPr>
            <p:ph type="title"/>
          </p:nvPr>
        </p:nvSpPr>
        <p:spPr>
          <a:xfrm>
            <a:off x="812800" y="10769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What we found, and what comes next</a:t>
            </a:r>
            <a:endParaRPr lang="en-US" sz="3200" dirty="0"/>
          </a:p>
        </p:txBody>
      </p:sp>
      <p:sp>
        <p:nvSpPr>
          <p:cNvPr id="4" name="Shape 2"/>
          <p:cNvSpPr/>
          <p:nvPr/>
        </p:nvSpPr>
        <p:spPr>
          <a:xfrm>
            <a:off x="815975" y="1831975"/>
            <a:ext cx="3380264" cy="2185670"/>
          </a:xfrm>
          <a:prstGeom prst="roundRect">
            <a:avLst>
              <a:gd name="adj" fmla="val 4503"/>
            </a:avLst>
          </a:prstGeom>
          <a:solidFill>
            <a:srgbClr val="FCFBF8"/>
          </a:solidFill>
          <a:ln w="6350">
            <a:solidFill>
              <a:srgbClr val="DCD8CE"/>
            </a:solidFill>
            <a:prstDash val="solid"/>
          </a:ln>
        </p:spPr>
        <p:txBody>
          <a:bodyPr/>
          <a:lstStyle/>
          <a:p>
            <a:endParaRPr/>
          </a:p>
        </p:txBody>
      </p:sp>
      <p:sp>
        <p:nvSpPr>
          <p:cNvPr id="5" name="Text 3"/>
          <p:cNvSpPr/>
          <p:nvPr/>
        </p:nvSpPr>
        <p:spPr>
          <a:xfrm>
            <a:off x="1071880" y="2087879"/>
            <a:ext cx="2954507"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F6690"/>
                </a:solidFill>
                <a:latin typeface="Space Grotesk" pitchFamily="34" charset="0"/>
                <a:ea typeface="Space Grotesk" pitchFamily="34" charset="-122"/>
                <a:cs typeface="Space Grotesk" pitchFamily="34" charset="-120"/>
              </a:rPr>
              <a:t>Findings</a:t>
            </a:r>
            <a:endParaRPr lang="en-US" sz="2000" dirty="0"/>
          </a:p>
        </p:txBody>
      </p:sp>
      <p:sp>
        <p:nvSpPr>
          <p:cNvPr id="6" name="Text 4"/>
          <p:cNvSpPr/>
          <p:nvPr/>
        </p:nvSpPr>
        <p:spPr>
          <a:xfrm>
            <a:off x="1094486" y="2481579"/>
            <a:ext cx="2926567" cy="130556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Weekends: 59–65% of weekday use</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Overnight: 12–14% of annual use</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Winter midday peaks in secondary schools</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Ten schools use about a third of the total; S24 stands out</a:t>
            </a:r>
            <a:endParaRPr lang="en-US" sz="1200" dirty="0"/>
          </a:p>
        </p:txBody>
      </p:sp>
      <p:sp>
        <p:nvSpPr>
          <p:cNvPr id="7" name="Shape 5"/>
          <p:cNvSpPr/>
          <p:nvPr/>
        </p:nvSpPr>
        <p:spPr>
          <a:xfrm>
            <a:off x="4405789" y="1831975"/>
            <a:ext cx="3380343" cy="2185670"/>
          </a:xfrm>
          <a:prstGeom prst="roundRect">
            <a:avLst>
              <a:gd name="adj" fmla="val 4503"/>
            </a:avLst>
          </a:prstGeom>
          <a:solidFill>
            <a:srgbClr val="FCFBF8"/>
          </a:solidFill>
          <a:ln w="6350">
            <a:solidFill>
              <a:srgbClr val="DCD8CE"/>
            </a:solidFill>
            <a:prstDash val="solid"/>
          </a:ln>
        </p:spPr>
        <p:txBody>
          <a:bodyPr/>
          <a:lstStyle/>
          <a:p>
            <a:endParaRPr/>
          </a:p>
        </p:txBody>
      </p:sp>
      <p:sp>
        <p:nvSpPr>
          <p:cNvPr id="8" name="Text 6"/>
          <p:cNvSpPr/>
          <p:nvPr/>
        </p:nvSpPr>
        <p:spPr>
          <a:xfrm>
            <a:off x="4661694" y="2087879"/>
            <a:ext cx="295458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F6690"/>
                </a:solidFill>
                <a:latin typeface="Space Grotesk" pitchFamily="34" charset="0"/>
                <a:ea typeface="Space Grotesk" pitchFamily="34" charset="-122"/>
                <a:cs typeface="Space Grotesk" pitchFamily="34" charset="-120"/>
              </a:rPr>
              <a:t>Limitations</a:t>
            </a:r>
            <a:endParaRPr lang="en-US" sz="2000" dirty="0"/>
          </a:p>
        </p:txBody>
      </p:sp>
      <p:sp>
        <p:nvSpPr>
          <p:cNvPr id="9" name="Text 7"/>
          <p:cNvSpPr/>
          <p:nvPr/>
        </p:nvSpPr>
        <p:spPr>
          <a:xfrm>
            <a:off x="4684300" y="2481579"/>
            <a:ext cx="2926649" cy="66548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No detail on intervention type or timing</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Only 3 Q4 schools, no Q5</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No floor-area data, so no kWh per m²</a:t>
            </a:r>
            <a:endParaRPr lang="en-US" sz="1200" dirty="0"/>
          </a:p>
        </p:txBody>
      </p:sp>
      <p:sp>
        <p:nvSpPr>
          <p:cNvPr id="10" name="Shape 8"/>
          <p:cNvSpPr/>
          <p:nvPr/>
        </p:nvSpPr>
        <p:spPr>
          <a:xfrm>
            <a:off x="7995682" y="1831975"/>
            <a:ext cx="3380343" cy="2185670"/>
          </a:xfrm>
          <a:prstGeom prst="roundRect">
            <a:avLst>
              <a:gd name="adj" fmla="val 4503"/>
            </a:avLst>
          </a:prstGeom>
          <a:solidFill>
            <a:srgbClr val="FCFBF8"/>
          </a:solidFill>
          <a:ln w="6350">
            <a:solidFill>
              <a:srgbClr val="DCD8CE"/>
            </a:solidFill>
            <a:prstDash val="solid"/>
          </a:ln>
        </p:spPr>
        <p:txBody>
          <a:bodyPr/>
          <a:lstStyle/>
          <a:p>
            <a:endParaRPr/>
          </a:p>
        </p:txBody>
      </p:sp>
      <p:sp>
        <p:nvSpPr>
          <p:cNvPr id="11" name="Text 9"/>
          <p:cNvSpPr/>
          <p:nvPr/>
        </p:nvSpPr>
        <p:spPr>
          <a:xfrm>
            <a:off x="8251587" y="2087879"/>
            <a:ext cx="2954589"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2F6690"/>
                </a:solidFill>
                <a:latin typeface="Space Grotesk" pitchFamily="34" charset="0"/>
                <a:ea typeface="Space Grotesk" pitchFamily="34" charset="-122"/>
                <a:cs typeface="Space Grotesk" pitchFamily="34" charset="-120"/>
              </a:rPr>
              <a:t>Next steps</a:t>
            </a:r>
            <a:endParaRPr lang="en-US" sz="2000" dirty="0"/>
          </a:p>
        </p:txBody>
      </p:sp>
      <p:sp>
        <p:nvSpPr>
          <p:cNvPr id="12" name="Text 10"/>
          <p:cNvSpPr/>
          <p:nvPr/>
        </p:nvSpPr>
        <p:spPr>
          <a:xfrm>
            <a:off x="8274193" y="2481579"/>
            <a:ext cx="2926649" cy="1092200"/>
          </a:xfrm>
          <a:prstGeom prst="rect">
            <a:avLst/>
          </a:prstGeom>
          <a:noFill/>
          <a:ln/>
        </p:spPr>
        <p:txBody>
          <a:bodyPr wrap="square" lIns="0" tIns="0" rIns="0" bIns="0" rtlCol="0" anchor="t">
            <a:normAutofit/>
          </a:bodyPr>
          <a:lstStyle/>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Add building, occupancy and infrastructure data</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Collect detailed intervention records</a:t>
            </a:r>
            <a:endParaRPr lang="en-US" sz="1200" dirty="0"/>
          </a:p>
          <a:p>
            <a:pPr marL="155194" indent="-155194" algn="l">
              <a:lnSpc>
                <a:spcPts val="1680"/>
              </a:lnSpc>
              <a:buSzPct val="100000"/>
              <a:buChar char="•"/>
            </a:pPr>
            <a:r>
              <a:rPr lang="en-US" sz="1200" dirty="0">
                <a:solidFill>
                  <a:srgbClr val="3D4A55"/>
                </a:solidFill>
                <a:latin typeface="IBM Plex Sans" pitchFamily="34" charset="0"/>
                <a:ea typeface="IBM Plex Sans" pitchFamily="34" charset="-122"/>
                <a:cs typeface="IBM Plex Sans" pitchFamily="34" charset="-120"/>
              </a:rPr>
              <a:t>Stream with Kafka and Spark Structured Streaming</a:t>
            </a:r>
            <a:endParaRPr lang="en-US" sz="1200" dirty="0"/>
          </a:p>
        </p:txBody>
      </p:sp>
      <p:sp>
        <p:nvSpPr>
          <p:cNvPr id="13" name="Text 11"/>
          <p:cNvSpPr/>
          <p:nvPr/>
        </p:nvSpPr>
        <p:spPr>
          <a:xfrm>
            <a:off x="812800" y="6243321"/>
            <a:ext cx="34974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A74"/>
                </a:solidFill>
                <a:latin typeface="IBM Plex Sans" pitchFamily="34" charset="0"/>
                <a:ea typeface="IBM Plex Sans" pitchFamily="34" charset="-122"/>
                <a:cs typeface="IBM Plex Sans" pitchFamily="34" charset="-120"/>
              </a:rPr>
              <a:t>Energy use in Western Cape public schools</a:t>
            </a:r>
            <a:endParaRPr lang="en-US" sz="1200" dirty="0"/>
          </a:p>
        </p:txBody>
      </p:sp>
      <p:sp>
        <p:nvSpPr>
          <p:cNvPr id="14" name="Text 12"/>
          <p:cNvSpPr/>
          <p:nvPr/>
        </p:nvSpPr>
        <p:spPr>
          <a:xfrm>
            <a:off x="10783888" y="6243321"/>
            <a:ext cx="59531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A74"/>
                </a:solidFill>
                <a:latin typeface="IBM Plex Sans" pitchFamily="34" charset="0"/>
                <a:ea typeface="IBM Plex Sans" pitchFamily="34" charset="-122"/>
                <a:cs typeface="IBM Plex Sans" pitchFamily="34" charset="-120"/>
              </a:rPr>
              <a:t>12 / 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1421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570485"/>
            <a:ext cx="10883392" cy="6654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5F3EE"/>
                </a:solidFill>
                <a:latin typeface="Space Grotesk" pitchFamily="34" charset="0"/>
                <a:ea typeface="Space Grotesk" pitchFamily="34" charset="-122"/>
                <a:cs typeface="Space Grotesk" pitchFamily="34" charset="-120"/>
              </a:rPr>
              <a:t>Thank you.</a:t>
            </a:r>
            <a:endParaRPr lang="en-US" sz="4800" dirty="0"/>
          </a:p>
        </p:txBody>
      </p:sp>
      <p:sp>
        <p:nvSpPr>
          <p:cNvPr id="3" name="Text 1"/>
          <p:cNvSpPr/>
          <p:nvPr/>
        </p:nvSpPr>
        <p:spPr>
          <a:xfrm>
            <a:off x="812800" y="3464558"/>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3A"/>
                </a:solidFill>
                <a:latin typeface="IBM Plex Sans" pitchFamily="34" charset="0"/>
                <a:ea typeface="IBM Plex Sans" pitchFamily="34" charset="-122"/>
                <a:cs typeface="IBM Plex Sans" pitchFamily="34" charset="-120"/>
              </a:rPr>
              <a:t>Questions?</a:t>
            </a:r>
            <a:endParaRPr lang="en-US" sz="2000" dirty="0"/>
          </a:p>
        </p:txBody>
      </p:sp>
      <p:sp>
        <p:nvSpPr>
          <p:cNvPr id="4" name="Text 2"/>
          <p:cNvSpPr/>
          <p:nvPr/>
        </p:nvSpPr>
        <p:spPr>
          <a:xfrm>
            <a:off x="812800" y="4074158"/>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A"/>
                </a:solidFill>
                <a:latin typeface="IBM Plex Sans" pitchFamily="34" charset="0"/>
                <a:ea typeface="IBM Plex Sans" pitchFamily="34" charset="-122"/>
                <a:cs typeface="IBM Plex Sans" pitchFamily="34" charset="-120"/>
              </a:rPr>
              <a:t>Emma Daae · Hlib Grygoriev · Marvin Lambertus · Vimala Nunavath</a:t>
            </a:r>
            <a:endParaRPr lang="en-US" sz="1200" dirty="0"/>
          </a:p>
        </p:txBody>
      </p:sp>
    </p:spTree>
  </p:cSld>
  <p:clrMapOvr>
    <a:masterClrMapping/>
  </p:clrMapOvr>
</p:sld>
</file>

<file path=ppt/theme/theme1.xml><?xml version="1.0" encoding="utf-8"?>
<a:theme xmlns:a="http://schemas.openxmlformats.org/drawingml/2006/main" name="Big Data Analytics for School Energy Use — Western Cape">
  <a:themeElements>
    <a:clrScheme name="Big Data Analytics for School Energy Use — Western Cape">
      <a:dk1>
        <a:srgbClr val="14212B"/>
      </a:dk1>
      <a:lt1>
        <a:srgbClr val="F5F3EE"/>
      </a:lt1>
      <a:dk2>
        <a:srgbClr val="4C565C"/>
      </a:dk2>
      <a:lt2>
        <a:srgbClr val="DFDEDB"/>
      </a:lt2>
      <a:accent1>
        <a:srgbClr val="9A5B00"/>
      </a:accent1>
      <a:accent2>
        <a:srgbClr val="2F6690"/>
      </a:accent2>
      <a:accent3>
        <a:srgbClr val="F2A33A"/>
      </a:accent3>
      <a:accent4>
        <a:srgbClr val="5E6A74"/>
      </a:accent4>
      <a:accent5>
        <a:srgbClr val="3D4A55"/>
      </a:accent5>
      <a:accent6>
        <a:srgbClr val="C9D3DA"/>
      </a:accent6>
      <a:hlink>
        <a:srgbClr val="0563C1"/>
      </a:hlink>
      <a:folHlink>
        <a:srgbClr val="954F72"/>
      </a:folHlink>
    </a:clrScheme>
    <a:fontScheme name="Big Data Analytics for School Energy Use — Western Cap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2058</Words>
  <Application>Microsoft Office PowerPoint</Application>
  <PresentationFormat>Широкоэкранный</PresentationFormat>
  <Paragraphs>184</Paragraphs>
  <Slides>13</Slides>
  <Notes>13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Arial</vt:lpstr>
      <vt:lpstr>IBM Plex Sans</vt:lpstr>
      <vt:lpstr>Space Grotesk</vt:lpstr>
      <vt:lpstr>Big Data Analytics for School Energy Use — Western Cape</vt:lpstr>
      <vt:lpstr>Big Data Analytics for Energy Use in Public School Power Systems</vt:lpstr>
      <vt:lpstr>Why schools, and why South Africa?</vt:lpstr>
      <vt:lpstr>Seven stages from meter file to dashboard</vt:lpstr>
      <vt:lpstr>53 schools, one year, five cleaning steps</vt:lpstr>
      <vt:lpstr>Quintile doesn't predict consumption</vt:lpstr>
      <vt:lpstr>Per-learner use tells a different story</vt:lpstr>
      <vt:lpstr>A typical school day peaks around midday</vt:lpstr>
      <vt:lpstr>Weekends keep over half the weekday load</vt:lpstr>
      <vt:lpstr>The extremes: winter peaks and a night that never ends</vt:lpstr>
      <vt:lpstr>Ten schools use about a third of all electricity</vt:lpstr>
      <vt:lpstr>Intervened schools use less, with caveats</vt:lpstr>
      <vt:lpstr>What we found, and what comes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Analytics for School Energy Use — Western Cape</dc:title>
  <dc:subject/>
  <dc:creator/>
  <cp:lastModifiedBy>Hlib Grygoriev</cp:lastModifiedBy>
  <cp:revision>2</cp:revision>
  <dcterms:created xsi:type="dcterms:W3CDTF">2026-10-03T09:27:54Z</dcterms:created>
  <dcterms:modified xsi:type="dcterms:W3CDTF">2026-10-07T13:56:28Z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fcb386-087c-4831-aa41-713a0eff277f_Enabled">
    <vt:lpwstr>true</vt:lpwstr>
  </property>
  <property fmtid="{D5CDD505-2E9C-101B-9397-08002B2CF9AE}" pid="3" name="MSIP_Label_c6fcb386-087c-4831-aa41-713a0eff277f_SetDate">
    <vt:lpwstr>2026-10-07T13:56:28Z</vt:lpwstr>
  </property>
  <property fmtid="{D5CDD505-2E9C-101B-9397-08002B2CF9AE}" pid="4" name="MSIP_Label_c6fcb386-087c-4831-aa41-713a0eff277f_Method">
    <vt:lpwstr>Standard</vt:lpwstr>
  </property>
  <property fmtid="{D5CDD505-2E9C-101B-9397-08002B2CF9AE}" pid="5" name="MSIP_Label_c6fcb386-087c-4831-aa41-713a0eff277f_Name">
    <vt:lpwstr>Internt bruk for ansatte og gjester</vt:lpwstr>
  </property>
  <property fmtid="{D5CDD505-2E9C-101B-9397-08002B2CF9AE}" pid="6" name="MSIP_Label_c6fcb386-087c-4831-aa41-713a0eff277f_SiteId">
    <vt:lpwstr>ffb126c4-063d-4b12-9a09-c86a48e1e95a</vt:lpwstr>
  </property>
  <property fmtid="{D5CDD505-2E9C-101B-9397-08002B2CF9AE}" pid="7" name="MSIP_Label_c6fcb386-087c-4831-aa41-713a0eff277f_ActionId">
    <vt:lpwstr>0440d5c2-793c-4312-839d-9733f99b7ce1</vt:lpwstr>
  </property>
  <property fmtid="{D5CDD505-2E9C-101B-9397-08002B2CF9AE}" pid="8" name="MSIP_Label_c6fcb386-087c-4831-aa41-713a0eff277f_ContentBits">
    <vt:lpwstr>0</vt:lpwstr>
  </property>
  <property fmtid="{D5CDD505-2E9C-101B-9397-08002B2CF9AE}" pid="9" name="MSIP_Label_c6fcb386-087c-4831-aa41-713a0eff277f_Tag">
    <vt:lpwstr>10, 3, 0, 1</vt:lpwstr>
  </property>
</Properties>
</file>